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8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E1C8F3-07A8-44FD-8CEA-B1ED441D8B6E}" type="datetimeFigureOut">
              <a:rPr lang="zh-CN" altLang="en-US" smtClean="0"/>
              <a:t>2026/2/19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3A8F10-E8B5-457E-927D-B84DE4ACC9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6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3A8F10-E8B5-457E-927D-B84DE4ACC9CF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5283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solidFill>
                  <a:srgbClr val="00B4D8"/>
                </a:solidFill>
                <a:latin typeface="Segoe UI"/>
              </a:rPr>
              <a:t>NaviMind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</a:rPr>
              <a:t>灵 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D66B"/>
                </a:solidFill>
                <a:latin typeface="Microsoft YaHei"/>
              </a:rPr>
              <a:t>让机器人听懂人话, 看懂世界, 自主探索未知空间</a:t>
            </a:r>
          </a:p>
          <a:p>
            <a:pPr algn="ctr">
              <a:spcBef>
                <a:spcPts val="800"/>
              </a:spcBef>
            </a:pPr>
            <a:r>
              <a:rPr sz="1600" b="0">
                <a:solidFill>
                  <a:srgbClr val="6B708D"/>
                </a:solidFill>
                <a:latin typeface="Microsoft YaHei"/>
              </a:rPr>
              <a:t>AI-Powered Autonomous Navigation for Quadruped Robots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4206240"/>
            <a:ext cx="2011680" cy="137160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 b="1">
                <a:solidFill>
                  <a:srgbClr val="00B4D8"/>
                </a:solidFill>
                <a:latin typeface="Microsoft YaHei"/>
              </a:rPr>
              <a:t>&lt; 5ms</a:t>
            </a:r>
          </a:p>
          <a:p>
            <a:pPr algn="ctr">
              <a:spcBef>
                <a:spcPts val="200"/>
              </a:spcBef>
            </a:pPr>
            <a:r>
              <a:rPr sz="1300" b="0">
                <a:solidFill>
                  <a:srgbClr val="9A9EB8"/>
                </a:solidFill>
                <a:latin typeface="Microsoft YaHei"/>
              </a:rPr>
              <a:t>快路径延迟
无需LLM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1920" y="4206240"/>
            <a:ext cx="2011680" cy="137160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 b="1">
                <a:solidFill>
                  <a:srgbClr val="00B4D8"/>
                </a:solidFill>
                <a:latin typeface="Microsoft YaHei"/>
              </a:rPr>
              <a:t>100%</a:t>
            </a:r>
          </a:p>
          <a:p>
            <a:pPr algn="ctr">
              <a:spcBef>
                <a:spcPts val="200"/>
              </a:spcBef>
            </a:pPr>
            <a:r>
              <a:rPr sz="1300" b="0">
                <a:solidFill>
                  <a:srgbClr val="9A9EB8"/>
                </a:solidFill>
                <a:latin typeface="Microsoft YaHei"/>
              </a:rPr>
              <a:t>离线测试
通过率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206240"/>
            <a:ext cx="2011680" cy="137160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 b="1">
                <a:solidFill>
                  <a:srgbClr val="00B4D8"/>
                </a:solidFill>
                <a:latin typeface="Microsoft YaHei"/>
              </a:rPr>
              <a:t>99</a:t>
            </a:r>
          </a:p>
          <a:p>
            <a:pPr algn="ctr">
              <a:spcBef>
                <a:spcPts val="200"/>
              </a:spcBef>
            </a:pPr>
            <a:r>
              <a:rPr sz="1300" b="0">
                <a:solidFill>
                  <a:srgbClr val="9A9EB8"/>
                </a:solidFill>
                <a:latin typeface="Microsoft YaHei"/>
              </a:rPr>
              <a:t>单元测试
全部通过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4206240"/>
            <a:ext cx="2011680" cy="137160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 b="1">
                <a:solidFill>
                  <a:srgbClr val="00B4D8"/>
                </a:solidFill>
                <a:latin typeface="Microsoft YaHei"/>
              </a:rPr>
              <a:t>75%+</a:t>
            </a:r>
          </a:p>
          <a:p>
            <a:pPr algn="ctr">
              <a:spcBef>
                <a:spcPts val="200"/>
              </a:spcBef>
            </a:pPr>
            <a:r>
              <a:rPr sz="1300" b="0">
                <a:solidFill>
                  <a:srgbClr val="9A9EB8"/>
                </a:solidFill>
                <a:latin typeface="Microsoft YaHei"/>
              </a:rPr>
              <a:t>LLM调用
节省率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26480"/>
            <a:ext cx="12188952" cy="731520"/>
          </a:xfrm>
          <a:prstGeom prst="rect">
            <a:avLst/>
          </a:prstGeom>
          <a:solidFill>
            <a:srgbClr val="11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Segoe UI"/>
              </a:rPr>
              <a:t>01</a:t>
            </a:r>
          </a:p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  行业痛点</a:t>
            </a:r>
            <a:r>
              <a:rPr sz="1600">
                <a:solidFill>
                  <a:srgbClr val="6B708D"/>
                </a:solidFill>
                <a:latin typeface="Segoe UI"/>
              </a:rPr>
              <a:t>  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17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03520" cy="484632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000" b="1">
                <a:solidFill>
                  <a:srgbClr val="EF476F"/>
                </a:solidFill>
                <a:latin typeface="Microsoft YaHei"/>
              </a:rPr>
              <a:t>  机器人导航的现状</a:t>
            </a:r>
          </a:p>
          <a:p>
            <a:pPr algn="l">
              <a:spcBef>
                <a:spcPts val="1200"/>
              </a:spcBef>
            </a:pPr>
            <a:r>
              <a:rPr sz="1600" b="1">
                <a:solidFill>
                  <a:srgbClr val="FFA62B"/>
                </a:solidFill>
                <a:latin typeface="Microsoft YaHei"/>
              </a:rPr>
              <a:t>  依赖预建地图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9A9EB8"/>
                </a:solidFill>
                <a:latin typeface="Microsoft YaHei"/>
              </a:rPr>
              <a:t>    每次部署需人工扫描建图 (30min+)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9A9EB8"/>
                </a:solidFill>
                <a:latin typeface="Microsoft YaHei"/>
              </a:rPr>
              <a:t>    环境变化就要重新扫描, 不可扩展</a:t>
            </a:r>
          </a:p>
          <a:p>
            <a:pPr algn="l">
              <a:spcBef>
                <a:spcPts val="1200"/>
              </a:spcBef>
            </a:pPr>
            <a:r>
              <a:rPr sz="1600" b="1">
                <a:solidFill>
                  <a:srgbClr val="FFA62B"/>
                </a:solidFill>
                <a:latin typeface="Microsoft YaHei"/>
              </a:rPr>
              <a:t>  不懂自然语言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9A9EB8"/>
                </a:solidFill>
                <a:latin typeface="Microsoft YaHei"/>
              </a:rPr>
              <a:t>    只能接受坐标点, 不能理解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9A9EB8"/>
                </a:solidFill>
                <a:latin typeface="Microsoft YaHei"/>
              </a:rPr>
              <a:t>    "去厨房拿杯水" 这样的指令</a:t>
            </a:r>
          </a:p>
          <a:p>
            <a:pPr algn="l">
              <a:spcBef>
                <a:spcPts val="1200"/>
              </a:spcBef>
            </a:pPr>
            <a:r>
              <a:rPr sz="1600" b="1">
                <a:solidFill>
                  <a:srgbClr val="FFA62B"/>
                </a:solidFill>
                <a:latin typeface="Microsoft YaHei"/>
              </a:rPr>
              <a:t>  每步都调大模型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9A9EB8"/>
                </a:solidFill>
                <a:latin typeface="Microsoft YaHei"/>
              </a:rPr>
              <a:t>    SG-Nav: 每走一步都调LLM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9A9EB8"/>
                </a:solidFill>
                <a:latin typeface="Microsoft YaHei"/>
              </a:rPr>
              <a:t>    延迟2-5秒/步, API成本高昂</a:t>
            </a:r>
          </a:p>
          <a:p>
            <a:pPr algn="l">
              <a:spcBef>
                <a:spcPts val="1200"/>
              </a:spcBef>
            </a:pPr>
            <a:r>
              <a:rPr sz="1600" b="1">
                <a:solidFill>
                  <a:srgbClr val="FFA62B"/>
                </a:solidFill>
                <a:latin typeface="Microsoft YaHei"/>
              </a:rPr>
              <a:t>  没有记忆 &amp; 推理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9A9EB8"/>
                </a:solidFill>
                <a:latin typeface="Microsoft YaHei"/>
              </a:rPr>
              <a:t>    走过的地方记不住, 找不到目标就原地转圈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9A9EB8"/>
                </a:solidFill>
                <a:latin typeface="Microsoft YaHei"/>
              </a:rPr>
              <a:t>    没有不确定性建模, 做不了置信决策</a:t>
            </a:r>
          </a:p>
          <a:p>
            <a:pPr algn="l">
              <a:spcBef>
                <a:spcPts val="1200"/>
              </a:spcBef>
            </a:pPr>
            <a:r>
              <a:rPr sz="1600" b="1">
                <a:solidFill>
                  <a:srgbClr val="FFA62B"/>
                </a:solidFill>
                <a:latin typeface="Microsoft YaHei"/>
              </a:rPr>
              <a:t>  只在仿真里跑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9A9EB8"/>
                </a:solidFill>
                <a:latin typeface="Microsoft YaHei"/>
              </a:rPr>
              <a:t>    MP3D/HM3D仿真 ≠ 真实世界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9A9EB8"/>
                </a:solidFill>
                <a:latin typeface="Microsoft YaHei"/>
              </a:rPr>
              <a:t>    90cm高的仿真机器人 ≠ 30cm四足犬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303520" cy="210312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000" b="1">
                <a:solidFill>
                  <a:srgbClr val="06D6A0"/>
                </a:solidFill>
                <a:latin typeface="Microsoft YaHei"/>
              </a:rPr>
              <a:t>  市场需求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Microsoft YaHei"/>
              </a:rPr>
              <a:t>  巡检机器人 — 工厂/仓库/数据中心, 需语义理解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Microsoft YaHei"/>
              </a:rPr>
              <a:t>  服务机器人 — 酒店/医院, 需自然语言交互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Microsoft YaHei"/>
              </a:rPr>
              <a:t>  搜救机器人 — 未知环境, 需自主探索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Microsoft YaHei"/>
              </a:rPr>
              <a:t>  家庭陪伴 — 语音控制, 找物品、送东西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3749039"/>
            <a:ext cx="5303520" cy="246888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1">
                <a:solidFill>
                  <a:srgbClr val="00B4D8"/>
                </a:solidFill>
                <a:latin typeface="Microsoft YaHei"/>
              </a:rPr>
              <a:t>  市场规模 (全球服务机器人)</a:t>
            </a:r>
          </a:p>
          <a:p>
            <a:pPr algn="l">
              <a:spcBef>
                <a:spcPts val="1000"/>
              </a:spcBef>
            </a:pPr>
            <a:r>
              <a:rPr sz="2800" b="1">
                <a:solidFill>
                  <a:srgbClr val="FFD66B"/>
                </a:solidFill>
                <a:latin typeface="Microsoft YaHei"/>
              </a:rPr>
              <a:t>  2026 TAM: $530亿</a:t>
            </a:r>
          </a:p>
          <a:p>
            <a:pPr algn="l">
              <a:spcBef>
                <a:spcPts val="600"/>
              </a:spcBef>
            </a:pPr>
            <a:r>
              <a:rPr sz="2000" b="1">
                <a:solidFill>
                  <a:srgbClr val="48CAE4"/>
                </a:solidFill>
                <a:latin typeface="Microsoft YaHei"/>
              </a:rPr>
              <a:t>  室内导航软件 SAM: ~$80亿</a:t>
            </a:r>
          </a:p>
          <a:p>
            <a:pPr algn="l">
              <a:spcBef>
                <a:spcPts val="600"/>
              </a:spcBef>
            </a:pPr>
            <a:r>
              <a:rPr sz="1800" b="1">
                <a:solidFill>
                  <a:srgbClr val="06D6A0"/>
                </a:solidFill>
                <a:latin typeface="Microsoft YaHei"/>
              </a:rPr>
              <a:t>  语义导航 SOM: ~$12亿 (CAGR 35%)</a:t>
            </a:r>
          </a:p>
          <a:p>
            <a:pPr algn="l">
              <a:spcBef>
                <a:spcPts val="1000"/>
              </a:spcBef>
            </a:pPr>
            <a:r>
              <a:rPr sz="1000" b="0">
                <a:solidFill>
                  <a:srgbClr val="6B708D"/>
                </a:solidFill>
                <a:latin typeface="Microsoft YaHei"/>
              </a:rPr>
              <a:t>  来源: IFR 2025, MarketsandMarkets, Precedence Research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Segoe UI"/>
              </a:rPr>
              <a:t>02</a:t>
            </a:r>
          </a:p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  我们的方案</a:t>
            </a:r>
            <a:r>
              <a:rPr sz="1600">
                <a:solidFill>
                  <a:srgbClr val="6B708D"/>
                </a:solidFill>
                <a:latin typeface="Segoe UI"/>
              </a:rPr>
              <a:t>  Our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17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11064240" cy="1463040"/>
          </a:xfrm>
          <a:prstGeom prst="roundRect">
            <a:avLst/>
          </a:prstGeom>
          <a:solidFill>
            <a:srgbClr val="1A203C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800" b="1">
                <a:solidFill>
                  <a:srgbClr val="00B4D8"/>
                </a:solidFill>
                <a:latin typeface="Microsoft YaHei"/>
              </a:rPr>
              <a:t>  NaviMind 灵途</a:t>
            </a:r>
          </a:p>
          <a:p>
            <a:pPr algn="l">
              <a:spcBef>
                <a:spcPts val="800"/>
              </a:spcBef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  = 在线层次场景图 + 快慢双路径推理 + 信念感知规划 + 拓扑语义探索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FFD66B"/>
                </a:solidFill>
                <a:latin typeface="Microsoft YaHei"/>
              </a:rPr>
              <a:t>  机器人边走边建「认知地图」, 75%指令&lt;5ms解决不调LLM, 复杂场景才调大模型做深度推理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291840"/>
            <a:ext cx="2697480" cy="329184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000" b="1">
                <a:solidFill>
                  <a:srgbClr val="00B4D8"/>
                </a:solidFill>
                <a:latin typeface="Microsoft YaHei"/>
              </a:rPr>
              <a:t>  看懂世界</a:t>
            </a:r>
          </a:p>
          <a:p>
            <a:pPr algn="l">
              <a:spcBef>
                <a:spcPts val="400"/>
              </a:spcBef>
            </a:pPr>
            <a:r>
              <a:rPr sz="1200" b="1">
                <a:solidFill>
                  <a:srgbClr val="FFD66B"/>
                </a:solidFill>
                <a:latin typeface="Microsoft YaHei"/>
              </a:rPr>
              <a:t>  在线构建4层认知地图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Object → Group → Room → Floor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开放词汇检测 (不限物体类别)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CLIP语义编码 + 质量感知融合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增量更新, 不依赖预建地图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3291840"/>
            <a:ext cx="2697480" cy="329184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000" b="1">
                <a:solidFill>
                  <a:srgbClr val="06D6A0"/>
                </a:solidFill>
                <a:latin typeface="Microsoft YaHei"/>
              </a:rPr>
              <a:t>  听懂人话</a:t>
            </a:r>
          </a:p>
          <a:p>
            <a:pPr algn="l">
              <a:spcBef>
                <a:spcPts val="400"/>
              </a:spcBef>
            </a:pPr>
            <a:r>
              <a:rPr sz="1200" b="1">
                <a:solidFill>
                  <a:srgbClr val="FFD66B"/>
                </a:solidFill>
                <a:latin typeface="Microsoft YaHei"/>
              </a:rPr>
              <a:t>  自然语言 → 导航坐标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中英文指令全支持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"找到走廊门旁边的灭火器"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快路径 &lt;5ms 直接出坐标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慢路径 LLM Chain-of-Thought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3291840"/>
            <a:ext cx="2697480" cy="329184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FFA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000" b="1">
                <a:solidFill>
                  <a:srgbClr val="FFA62B"/>
                </a:solidFill>
                <a:latin typeface="Microsoft YaHei"/>
              </a:rPr>
              <a:t>  会思考</a:t>
            </a:r>
          </a:p>
          <a:p>
            <a:pPr algn="l">
              <a:spcBef>
                <a:spcPts val="400"/>
              </a:spcBef>
            </a:pPr>
            <a:r>
              <a:rPr sz="1200" b="1">
                <a:solidFill>
                  <a:srgbClr val="FFD66B"/>
                </a:solidFill>
                <a:latin typeface="Microsoft YaHei"/>
              </a:rPr>
              <a:t>  概率推理 + 自适应决策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每个物体有存在概率和位置不确定度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多目标时贝叶斯推理排序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信息价值驱动何时该重新观察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77%时间免算力, 23%精准感知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64040" y="3291840"/>
            <a:ext cx="2697480" cy="329184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A7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000" b="1">
                <a:solidFill>
                  <a:srgbClr val="A77BFF"/>
                </a:solidFill>
                <a:latin typeface="Microsoft YaHei"/>
              </a:rPr>
              <a:t>  能探索</a:t>
            </a:r>
          </a:p>
          <a:p>
            <a:pPr algn="l">
              <a:spcBef>
                <a:spcPts val="400"/>
              </a:spcBef>
            </a:pPr>
            <a:r>
              <a:rPr sz="1200" b="1">
                <a:solidFill>
                  <a:srgbClr val="FFD66B"/>
                </a:solidFill>
                <a:latin typeface="Microsoft YaHei"/>
              </a:rPr>
              <a:t>  拓扑图 + 信息增益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空间结构图 (房间→连通关系)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前沿节点 (未知区域入口)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语义先验 (咖啡机→厨房)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穿越记忆 (去过的不再去)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Segoe UI"/>
              </a:rPr>
              <a:t>03</a:t>
            </a:r>
          </a:p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  技术架构全景</a:t>
            </a:r>
            <a:r>
              <a:rPr sz="1600">
                <a:solidFill>
                  <a:srgbClr val="6B708D"/>
                </a:solidFill>
                <a:latin typeface="Segoe UI"/>
              </a:rPr>
              <a:t> 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17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1371600" cy="118872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Bef>
                <a:spcPts val="100"/>
              </a:spcBef>
            </a:pPr>
            <a:r>
              <a:rPr sz="1100" b="1">
                <a:solidFill>
                  <a:srgbClr val="00B4D8"/>
                </a:solidFill>
                <a:latin typeface="Microsoft YaHei"/>
              </a:rPr>
              <a:t> RGB-D</a:t>
            </a:r>
          </a:p>
          <a:p>
            <a:pPr algn="l">
              <a:spcBef>
                <a:spcPts val="100"/>
              </a:spcBef>
            </a:pPr>
            <a:r>
              <a:rPr sz="1100" b="1">
                <a:solidFill>
                  <a:srgbClr val="00B4D8"/>
                </a:solidFill>
                <a:latin typeface="Microsoft YaHei"/>
              </a:rPr>
              <a:t> 相机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640x480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@30fps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65960" y="1371600"/>
            <a:ext cx="1645920" cy="118872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Bef>
                <a:spcPts val="100"/>
              </a:spcBef>
            </a:pPr>
            <a:r>
              <a:rPr sz="1100" b="1">
                <a:solidFill>
                  <a:srgbClr val="06D6A0"/>
                </a:solidFill>
                <a:latin typeface="Microsoft YaHei"/>
              </a:rPr>
              <a:t> YOLO-World</a:t>
            </a:r>
          </a:p>
          <a:p>
            <a:pPr algn="l">
              <a:spcBef>
                <a:spcPts val="100"/>
              </a:spcBef>
            </a:pPr>
            <a:r>
              <a:rPr sz="1100" b="1">
                <a:solidFill>
                  <a:srgbClr val="06D6A0"/>
                </a:solidFill>
                <a:latin typeface="Microsoft YaHei"/>
              </a:rPr>
              <a:t> 开放检测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不限类别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实时检测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1371600"/>
            <a:ext cx="1463040" cy="118872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Bef>
                <a:spcPts val="100"/>
              </a:spcBef>
            </a:pPr>
            <a:r>
              <a:rPr sz="1100" b="1">
                <a:solidFill>
                  <a:srgbClr val="06D6A0"/>
                </a:solidFill>
                <a:latin typeface="Microsoft YaHei"/>
              </a:rPr>
              <a:t> CLIP</a:t>
            </a:r>
          </a:p>
          <a:p>
            <a:pPr algn="l">
              <a:spcBef>
                <a:spcPts val="100"/>
              </a:spcBef>
            </a:pPr>
            <a:r>
              <a:rPr sz="1100" b="1">
                <a:solidFill>
                  <a:srgbClr val="06D6A0"/>
                </a:solidFill>
                <a:latin typeface="Microsoft YaHei"/>
              </a:rPr>
              <a:t> 语义编码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512维特征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质量感知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32120" y="1371600"/>
            <a:ext cx="1737360" cy="118872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FFA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Bef>
                <a:spcPts val="100"/>
              </a:spcBef>
            </a:pPr>
            <a:r>
              <a:rPr sz="1100" b="1">
                <a:solidFill>
                  <a:srgbClr val="FFA62B"/>
                </a:solidFill>
                <a:latin typeface="Microsoft YaHei"/>
              </a:rPr>
              <a:t> 层次场景图</a:t>
            </a:r>
          </a:p>
          <a:p>
            <a:pPr algn="l">
              <a:spcBef>
                <a:spcPts val="100"/>
              </a:spcBef>
            </a:pPr>
            <a:r>
              <a:rPr sz="1100" b="1">
                <a:solidFill>
                  <a:srgbClr val="FFA62B"/>
                </a:solidFill>
                <a:latin typeface="Microsoft YaHei"/>
              </a:rPr>
              <a:t> 4层构建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Object→Group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→Room→Floor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371600"/>
            <a:ext cx="1645920" cy="118872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FFD6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Bef>
                <a:spcPts val="100"/>
              </a:spcBef>
            </a:pPr>
            <a:r>
              <a:rPr sz="1100" b="1">
                <a:solidFill>
                  <a:srgbClr val="FFD66B"/>
                </a:solidFill>
                <a:latin typeface="Microsoft YaHei"/>
              </a:rPr>
              <a:t> 快慢推理</a:t>
            </a:r>
          </a:p>
          <a:p>
            <a:pPr algn="l">
              <a:spcBef>
                <a:spcPts val="100"/>
              </a:spcBef>
            </a:pPr>
            <a:r>
              <a:rPr sz="1100" b="1">
                <a:solidFill>
                  <a:srgbClr val="FFD66B"/>
                </a:solidFill>
                <a:latin typeface="Microsoft YaHei"/>
              </a:rPr>
              <a:t> 目标解析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Fast &lt;5ms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Slow LLM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72600" y="1371600"/>
            <a:ext cx="1371600" cy="118872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Bef>
                <a:spcPts val="100"/>
              </a:spcBef>
            </a:pPr>
            <a:r>
              <a:rPr sz="1100" b="1" dirty="0">
                <a:solidFill>
                  <a:srgbClr val="EF476F"/>
                </a:solidFill>
                <a:latin typeface="Microsoft YaHei"/>
              </a:rPr>
              <a:t> Nav2</a:t>
            </a:r>
          </a:p>
          <a:p>
            <a:pPr algn="l">
              <a:spcBef>
                <a:spcPts val="100"/>
              </a:spcBef>
            </a:pPr>
            <a:r>
              <a:rPr sz="1100" b="1" dirty="0">
                <a:solidFill>
                  <a:srgbClr val="EF476F"/>
                </a:solidFill>
                <a:latin typeface="Microsoft YaHei"/>
              </a:rPr>
              <a:t> </a:t>
            </a:r>
            <a:r>
              <a:rPr sz="1100" b="1" dirty="0" err="1">
                <a:solidFill>
                  <a:srgbClr val="EF476F"/>
                </a:solidFill>
                <a:latin typeface="Microsoft YaHei"/>
              </a:rPr>
              <a:t>路径规划</a:t>
            </a:r>
            <a:endParaRPr sz="1100" b="1" dirty="0">
              <a:solidFill>
                <a:srgbClr val="EF476F"/>
              </a:solidFill>
              <a:latin typeface="Microsoft YaHei"/>
            </a:endParaRPr>
          </a:p>
          <a:p>
            <a:pPr algn="l">
              <a:spcBef>
                <a:spcPts val="100"/>
              </a:spcBef>
            </a:pPr>
            <a:r>
              <a:rPr sz="1000" b="0" dirty="0">
                <a:solidFill>
                  <a:srgbClr val="9A9EB8"/>
                </a:solidFill>
                <a:latin typeface="Microsoft YaHei"/>
              </a:rPr>
              <a:t> </a:t>
            </a:r>
            <a:r>
              <a:rPr sz="1000" b="0" dirty="0" err="1">
                <a:solidFill>
                  <a:srgbClr val="9A9EB8"/>
                </a:solidFill>
                <a:latin typeface="Microsoft YaHei"/>
              </a:rPr>
              <a:t>DWB局部</a:t>
            </a:r>
            <a:endParaRPr sz="1000" b="0" dirty="0">
              <a:solidFill>
                <a:srgbClr val="9A9EB8"/>
              </a:solidFill>
              <a:latin typeface="Microsoft YaHei"/>
            </a:endParaRPr>
          </a:p>
          <a:p>
            <a:pPr algn="l">
              <a:spcBef>
                <a:spcPts val="100"/>
              </a:spcBef>
            </a:pPr>
            <a:r>
              <a:rPr sz="1000" b="0" dirty="0">
                <a:solidFill>
                  <a:srgbClr val="9A9EB8"/>
                </a:solidFill>
                <a:latin typeface="Microsoft YaHei"/>
              </a:rPr>
              <a:t> </a:t>
            </a:r>
            <a:r>
              <a:rPr sz="1000" b="0" dirty="0" err="1">
                <a:solidFill>
                  <a:srgbClr val="9A9EB8"/>
                </a:solidFill>
                <a:latin typeface="Microsoft YaHei"/>
              </a:rPr>
              <a:t>到达检测</a:t>
            </a:r>
            <a:endParaRPr sz="1000" b="0" dirty="0">
              <a:solidFill>
                <a:srgbClr val="9A9EB8"/>
              </a:solidFill>
              <a:latin typeface="Microsoft YaHe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0972800" y="1371600"/>
            <a:ext cx="1005840" cy="118872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A7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Bef>
                <a:spcPts val="100"/>
              </a:spcBef>
            </a:pPr>
            <a:r>
              <a:rPr sz="1100" b="1" dirty="0">
                <a:solidFill>
                  <a:srgbClr val="A77BFF"/>
                </a:solidFill>
                <a:latin typeface="Microsoft YaHei"/>
              </a:rPr>
              <a:t> </a:t>
            </a:r>
            <a:r>
              <a:rPr sz="1100" b="1" dirty="0" err="1">
                <a:solidFill>
                  <a:srgbClr val="A77BFF"/>
                </a:solidFill>
                <a:latin typeface="Microsoft YaHei"/>
              </a:rPr>
              <a:t>四足</a:t>
            </a:r>
            <a:endParaRPr sz="1100" b="1" dirty="0">
              <a:solidFill>
                <a:srgbClr val="A77BFF"/>
              </a:solidFill>
              <a:latin typeface="Microsoft YaHei"/>
            </a:endParaRPr>
          </a:p>
          <a:p>
            <a:pPr algn="l">
              <a:spcBef>
                <a:spcPts val="100"/>
              </a:spcBef>
            </a:pPr>
            <a:r>
              <a:rPr sz="1100" b="1" dirty="0">
                <a:solidFill>
                  <a:srgbClr val="A77BFF"/>
                </a:solidFill>
                <a:latin typeface="Microsoft YaHei"/>
              </a:rPr>
              <a:t> </a:t>
            </a:r>
            <a:r>
              <a:rPr sz="1100" b="1" dirty="0" err="1">
                <a:solidFill>
                  <a:srgbClr val="A77BFF"/>
                </a:solidFill>
                <a:latin typeface="Microsoft YaHei"/>
              </a:rPr>
              <a:t>底盘</a:t>
            </a:r>
            <a:endParaRPr sz="1100" b="1" dirty="0">
              <a:solidFill>
                <a:srgbClr val="A77BFF"/>
              </a:solidFill>
              <a:latin typeface="Microsoft YaHei"/>
            </a:endParaRPr>
          </a:p>
          <a:p>
            <a:pPr algn="l">
              <a:spcBef>
                <a:spcPts val="100"/>
              </a:spcBef>
            </a:pPr>
            <a:r>
              <a:rPr sz="1000" b="0" dirty="0">
                <a:solidFill>
                  <a:srgbClr val="9A9EB8"/>
                </a:solidFill>
                <a:latin typeface="Microsoft YaHei"/>
              </a:rPr>
              <a:t> </a:t>
            </a:r>
            <a:r>
              <a:rPr lang="zh-CN" altLang="en-US" sz="1000" dirty="0">
                <a:solidFill>
                  <a:srgbClr val="9A9EB8"/>
                </a:solidFill>
                <a:latin typeface="Microsoft YaHei"/>
              </a:rPr>
              <a:t>工业轮足</a:t>
            </a:r>
            <a:endParaRPr sz="1000" b="0" dirty="0">
              <a:solidFill>
                <a:srgbClr val="9A9EB8"/>
              </a:solidFill>
              <a:latin typeface="Microsoft YaHe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65760" y="2834640"/>
            <a:ext cx="2743200" cy="182880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1">
                <a:solidFill>
                  <a:srgbClr val="00B4D8"/>
                </a:solidFill>
                <a:latin typeface="Microsoft YaHei"/>
              </a:rPr>
              <a:t> 感知层 (Perception)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YOLO-World-L: 开放词汇目标检测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CLIP ViT-B/32: 512维语义特征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运动模糊过滤: Laplacian方差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实例关联: 3D距离 + CLIP余弦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深度投影: RGB-D → 3D世界坐标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2834640"/>
            <a:ext cx="2743200" cy="182880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1">
                <a:solidFill>
                  <a:srgbClr val="06D6A0"/>
                </a:solidFill>
                <a:latin typeface="Microsoft YaHei"/>
              </a:rPr>
              <a:t> 认知层 (Cognition)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层次场景图: 4层在线构建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DBSCAN聚类 → 房间推理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物体组: 语义共现聚合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拓扑边: 门/过道/邻近连通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前沿检测: 未探索方向估计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834640"/>
            <a:ext cx="2743200" cy="182880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FFA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1">
                <a:solidFill>
                  <a:srgbClr val="FFA62B"/>
                </a:solidFill>
                <a:latin typeface="Microsoft YaHei"/>
              </a:rPr>
              <a:t> 推理层 (Reasoning)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Fast Path: 多源融合评分 &lt;5ms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Slow Path: LLM层次CoT推理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信念系统: Beta + Gaussian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多假设: 贝叶斯候选排序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VoI调度: 信息价值决策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81160" y="2834640"/>
            <a:ext cx="2560320" cy="182880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1">
                <a:solidFill>
                  <a:srgbClr val="EF476F"/>
                </a:solidFill>
                <a:latin typeface="Microsoft YaHei"/>
              </a:rPr>
              <a:t> 执行层 (Execution)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Nav2: 局部路径规划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Pure Pursuit: 轨迹跟踪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碰撞避障: 安全门限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到达检测: 距离判断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再感知触发: VoI调度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937760"/>
            <a:ext cx="11430000" cy="164592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6B70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1">
                <a:solidFill>
                  <a:srgbClr val="00B4D8"/>
                </a:solidFill>
                <a:latin typeface="Microsoft YaHei"/>
              </a:rPr>
              <a:t>  硬件平台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计算: NVIDIA Jetson Orin NX 16GB — 边缘AI, 无需云端GPU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LiDAR: Livox Mid-360 — 360度激光雷达, Fast-LIO2 SLAM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相机: Orbbec Femto — RGB-D深度相机, 640x480 @30fps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底盘: Unitree Go2 — 四足机器人, 30cm低视角, 全地形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通信: gRPC Gateway (44 RPCs) + Flutter多平台App (Android/iOS/Windows)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Segoe UI"/>
              </a:rPr>
              <a:t>04</a:t>
            </a:r>
          </a:p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  核心技术 1: 在线层次场景图</a:t>
            </a:r>
            <a:r>
              <a:rPr sz="1600">
                <a:solidFill>
                  <a:srgbClr val="6B708D"/>
                </a:solidFill>
                <a:latin typeface="Segoe UI"/>
              </a:rPr>
              <a:t>  Online Hierarchical Scene Graph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17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5669280" cy="73152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A7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1">
                <a:solidFill>
                  <a:srgbClr val="A77BFF"/>
                </a:solidFill>
                <a:latin typeface="Microsoft YaHei"/>
              </a:rPr>
              <a:t> Floor (楼层)</a:t>
            </a:r>
            <a:r>
              <a:rPr sz="1200">
                <a:solidFill>
                  <a:srgbClr val="FFD66B"/>
                </a:solidFill>
                <a:latin typeface="Microsoft YaHei"/>
              </a:rPr>
              <a:t>  — 全局根节点, 管理所有房间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单楼层/多楼层皆可扩展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194560"/>
            <a:ext cx="5669280" cy="100584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FFA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1">
                <a:solidFill>
                  <a:srgbClr val="FFA62B"/>
                </a:solidFill>
                <a:latin typeface="Microsoft YaHei"/>
              </a:rPr>
              <a:t> Room (房间)</a:t>
            </a:r>
            <a:r>
              <a:rPr sz="1200">
                <a:solidFill>
                  <a:srgbClr val="FFD66B"/>
                </a:solidFill>
                <a:latin typeface="Microsoft YaHei"/>
              </a:rPr>
              <a:t>  — DBSCAN聚类 + 规则命名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corridor, office, kitchen, stairwell...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8种房间规则, 关键词匹配+优先级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可选LLM命名 (稳定后调用一次)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383280"/>
            <a:ext cx="5669280" cy="100584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1">
                <a:solidFill>
                  <a:srgbClr val="06D6A0"/>
                </a:solidFill>
                <a:latin typeface="Microsoft YaHei"/>
              </a:rPr>
              <a:t> Group (物体组)</a:t>
            </a:r>
            <a:r>
              <a:rPr sz="1200">
                <a:solidFill>
                  <a:srgbClr val="FFD66B"/>
                </a:solidFill>
                <a:latin typeface="Microsoft YaHei"/>
              </a:rPr>
              <a:t>  — 语义共现聚合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workstation = desk+chair+monitor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safety = fire_ext+exit_sign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自动聚合, 支持Slow Path推理定位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4572000"/>
            <a:ext cx="5669280" cy="100584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1">
                <a:solidFill>
                  <a:srgbClr val="00B4D8"/>
                </a:solidFill>
                <a:latin typeface="Microsoft YaHei"/>
              </a:rPr>
              <a:t> Object (物体)</a:t>
            </a:r>
            <a:r>
              <a:rPr sz="1200">
                <a:solidFill>
                  <a:srgbClr val="FFD66B"/>
                </a:solidFill>
                <a:latin typeface="Microsoft YaHei"/>
              </a:rPr>
              <a:t>  — YOLO-World检测 + CLIP编码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3D位置 (深度投影到世界坐标)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CLIP 512维特征向量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检测置信度 + 检测次数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空间关系 (near, on, left_of...)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486400" cy="123444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1">
                <a:solidFill>
                  <a:srgbClr val="00B4D8"/>
                </a:solidFill>
                <a:latin typeface="Microsoft YaHei"/>
              </a:rPr>
              <a:t> 质量感知CLIP融合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问题: 运动中检测质量参差不齐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方案: alpha = base x clamp(score/ref)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高置信检测 → 学习率大 → 快速学习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低置信检测 → 学习率小 → 保守更新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结果: 特征更稳定, 匹配更准确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697480"/>
            <a:ext cx="5486400" cy="109728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1">
                <a:solidFill>
                  <a:srgbClr val="06D6A0"/>
                </a:solidFill>
                <a:latin typeface="Microsoft YaHei"/>
              </a:rPr>
              <a:t> 运动模糊过滤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问题: 四足步态导致严重图像模糊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方案: Laplacian方差 &lt; 阈值 → 丢弃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Lvar = Var(Laplacian(gray_image))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效果: 过滤50%+低质帧, 检测更可靠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886200"/>
            <a:ext cx="5486400" cy="109728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FFA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1">
                <a:solidFill>
                  <a:srgbClr val="FFA62B"/>
                </a:solidFill>
                <a:latin typeface="Microsoft YaHei"/>
              </a:rPr>
              <a:t> 拓扑连通边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门/过道/邻近 → 房间间连通关系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构建可导航的空间拓扑图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支持Dijkstra最短路径计算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为探索模块提供结构化信息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5074920"/>
            <a:ext cx="5486400" cy="109728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1">
                <a:solidFill>
                  <a:srgbClr val="EF476F"/>
                </a:solidFill>
                <a:latin typeface="Microsoft YaHei"/>
              </a:rPr>
              <a:t> vs ConceptGraphs对比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CG: 离线, 均匀EMA, 无导航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我们: 在线, 质量感知, 导航集成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CG: 无层次, 扁平物体列表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我们: 4层层次 + 信念 + 拓扑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Segoe UI"/>
              </a:rPr>
              <a:t>05</a:t>
            </a:r>
          </a:p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  核心技术 2: 快慢双路径推理 — 原理</a:t>
            </a:r>
            <a:r>
              <a:rPr sz="1600">
                <a:solidFill>
                  <a:srgbClr val="6B708D"/>
                </a:solidFill>
                <a:latin typeface="Segoe UI"/>
              </a:rPr>
              <a:t>  Fast-Slow Dual-Path Reasoning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17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64240" cy="914400"/>
          </a:xfrm>
          <a:prstGeom prst="roundRect">
            <a:avLst/>
          </a:prstGeom>
          <a:solidFill>
            <a:srgbClr val="1A203C"/>
          </a:solidFill>
          <a:ln w="15240">
            <a:solidFill>
              <a:srgbClr val="FFD6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1">
                <a:solidFill>
                  <a:srgbClr val="FFD66B"/>
                </a:solidFill>
                <a:latin typeface="Microsoft YaHei"/>
              </a:rPr>
              <a:t>  灵感: Daniel Kahneman《思考, 快与慢》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  <a:latin typeface="Microsoft YaHei"/>
              </a:rPr>
              <a:t>  System 1 (快速直觉) → Fast Path: 模式匹配, &lt;5ms, 不调LLM  |  System 2 (深度思考) → Slow Path: LLM推理, ~26s, 处理复杂场景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5303520" cy="393192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1">
                <a:solidFill>
                  <a:srgbClr val="06D6A0"/>
                </a:solidFill>
                <a:latin typeface="Microsoft YaHei"/>
              </a:rPr>
              <a:t>  Fast Path (快路径) — &lt;5ms, 零LLM调用</a:t>
            </a:r>
          </a:p>
          <a:p>
            <a:pPr algn="l">
              <a:spcBef>
                <a:spcPts val="800"/>
              </a:spcBef>
            </a:pPr>
            <a:r>
              <a:rPr sz="1200" b="1">
                <a:solidFill>
                  <a:srgbClr val="48CAE4"/>
                </a:solidFill>
                <a:latin typeface="Microsoft YaHei"/>
              </a:rPr>
              <a:t>  Step 1: 指令解析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 jieba分词 / 英文split → 提取目标关键词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 "find the chair near the desk" → target=chair, spatial=desk</a:t>
            </a:r>
          </a:p>
          <a:p>
            <a:pPr algn="l">
              <a:spcBef>
                <a:spcPts val="800"/>
              </a:spcBef>
            </a:pPr>
            <a:r>
              <a:rPr sz="1200" b="1">
                <a:solidFill>
                  <a:srgbClr val="48CAE4"/>
                </a:solidFill>
                <a:latin typeface="Microsoft YaHei"/>
              </a:rPr>
              <a:t>  Step 2: 标签匹配 (L_match)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 精确匹配: "chair" == "chair" → 1.0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 模糊匹配: "椅" in "红色椅子" → 0.9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 结果: 每个物体得到标签分 0~1</a:t>
            </a:r>
          </a:p>
          <a:p>
            <a:pPr algn="l">
              <a:spcBef>
                <a:spcPts val="800"/>
              </a:spcBef>
            </a:pPr>
            <a:r>
              <a:rPr sz="1200" b="1">
                <a:solidFill>
                  <a:srgbClr val="48CAE4"/>
                </a:solidFill>
                <a:latin typeface="Microsoft YaHei"/>
              </a:rPr>
              <a:t>  Step 3: 检测置信度 (D_score)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 D = detection_score x min(det_count/5, 1.0)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 反复看到的物体更可信</a:t>
            </a:r>
          </a:p>
          <a:p>
            <a:pPr algn="l">
              <a:spcBef>
                <a:spcPts val="800"/>
              </a:spcBef>
            </a:pPr>
            <a:r>
              <a:rPr sz="1200" b="1">
                <a:solidFill>
                  <a:srgbClr val="48CAE4"/>
                </a:solidFill>
                <a:latin typeface="Microsoft YaHei"/>
              </a:rPr>
              <a:t>  Step 4: 空间关系 (S_rel)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 如果指令含 "near desk", 检查relations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 物体与desk有near关系 → 加分 +0.3</a:t>
            </a:r>
          </a:p>
          <a:p>
            <a:pPr algn="l">
              <a:spcBef>
                <a:spcPts val="800"/>
              </a:spcBef>
            </a:pPr>
            <a:r>
              <a:rPr sz="1200" b="1">
                <a:solidFill>
                  <a:srgbClr val="48CAE4"/>
                </a:solidFill>
                <a:latin typeface="Microsoft YaHei"/>
              </a:rPr>
              <a:t>  Step 5: 多源融合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 Score = 0.4*L + 0.35*D + 0.25*S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 &gt; 0.75 → 直接输出, 不调LLM!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560320"/>
            <a:ext cx="5303520" cy="393192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FFA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1">
                <a:solidFill>
                  <a:srgbClr val="FFA62B"/>
                </a:solidFill>
                <a:latin typeface="Microsoft YaHei"/>
              </a:rPr>
              <a:t>  Slow Path (慢路径) — LLM Chain-of-Thought</a:t>
            </a:r>
          </a:p>
          <a:p>
            <a:pPr algn="l">
              <a:spcBef>
                <a:spcPts val="800"/>
              </a:spcBef>
            </a:pPr>
            <a:r>
              <a:rPr sz="1200" b="1">
                <a:solidFill>
                  <a:srgbClr val="FFD66B"/>
                </a:solidFill>
                <a:latin typeface="Microsoft YaHei"/>
              </a:rPr>
              <a:t>  触发条件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 Fast Path 分数 &lt; 0.75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 典型: 中文指令, 复杂空间关系, 目标不存在</a:t>
            </a:r>
          </a:p>
          <a:p>
            <a:pPr algn="l">
              <a:spcBef>
                <a:spcPts val="800"/>
              </a:spcBef>
            </a:pPr>
            <a:r>
              <a:rPr sz="1200" b="1">
                <a:solidFill>
                  <a:srgbClr val="FFD66B"/>
                </a:solidFill>
                <a:latin typeface="Microsoft YaHei"/>
              </a:rPr>
              <a:t>  Prompt 设计 (层次化CoT)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 System: 你是导航规划器, 按以下步骤推理...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 User: 场景图JSON + 机器人位置 + 指令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 强制步骤: Step1理解 → Step2选Room → 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 Step3选Group → Step4选Object → Step5输出</a:t>
            </a:r>
          </a:p>
          <a:p>
            <a:pPr algn="l">
              <a:spcBef>
                <a:spcPts val="800"/>
              </a:spcBef>
            </a:pPr>
            <a:r>
              <a:rPr sz="1200" b="1">
                <a:solidFill>
                  <a:srgbClr val="FFD66B"/>
                </a:solidFill>
                <a:latin typeface="Microsoft YaHei"/>
              </a:rPr>
              <a:t>  输出格式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 {"action": "navigate/explore",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  "target": {"x":0.8, "y":0.5, "z":0.8},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  "target_label": "fire extinguisher",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  "confidence": 0.95,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  "reasoning": "Room选择: corridor..."}</a:t>
            </a:r>
          </a:p>
          <a:p>
            <a:pPr algn="l">
              <a:spcBef>
                <a:spcPts val="800"/>
              </a:spcBef>
            </a:pPr>
            <a:r>
              <a:rPr sz="1200" b="1">
                <a:solidFill>
                  <a:srgbClr val="FFD66B"/>
                </a:solidFill>
                <a:latin typeface="Microsoft YaHei"/>
              </a:rPr>
              <a:t>  跨语言能力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 "找到灭火器" → LLM理解"灭火器"=fire ext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 100%跨语言准确率 (实测12/12)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Segoe UI"/>
              </a:rPr>
              <a:t>06</a:t>
            </a:r>
          </a:p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  核心技术 2: 快慢推理 — 实测结果</a:t>
            </a:r>
            <a:r>
              <a:rPr sz="1600">
                <a:solidFill>
                  <a:srgbClr val="6B708D"/>
                </a:solidFill>
                <a:latin typeface="Segoe UI"/>
              </a:rPr>
              <a:t>  Fast-Slow Results (Kimi-k2.5)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17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737360" cy="109728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 b="1">
                <a:solidFill>
                  <a:srgbClr val="06D6A0"/>
                </a:solidFill>
                <a:latin typeface="Microsoft YaHei"/>
              </a:rPr>
              <a:t>100%</a:t>
            </a:r>
          </a:p>
          <a:p>
            <a:pPr algn="ctr">
              <a:spcBef>
                <a:spcPts val="200"/>
              </a:spcBef>
            </a:pPr>
            <a:r>
              <a:rPr sz="1300" b="0">
                <a:solidFill>
                  <a:srgbClr val="9A9EB8"/>
                </a:solidFill>
                <a:latin typeface="Microsoft YaHei"/>
              </a:rPr>
              <a:t>L1英文
Fast Path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23160" y="1371600"/>
            <a:ext cx="1737360" cy="109728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 b="1">
                <a:solidFill>
                  <a:srgbClr val="06D6A0"/>
                </a:solidFill>
                <a:latin typeface="Microsoft YaHei"/>
              </a:rPr>
              <a:t>100%</a:t>
            </a:r>
          </a:p>
          <a:p>
            <a:pPr algn="ctr">
              <a:spcBef>
                <a:spcPts val="200"/>
              </a:spcBef>
            </a:pPr>
            <a:r>
              <a:rPr sz="1300" b="0">
                <a:solidFill>
                  <a:srgbClr val="9A9EB8"/>
                </a:solidFill>
                <a:latin typeface="Microsoft YaHei"/>
              </a:rPr>
              <a:t>L2英文
Fast Path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79" y="1371600"/>
            <a:ext cx="1737360" cy="109728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 b="1">
                <a:solidFill>
                  <a:srgbClr val="00B4D8"/>
                </a:solidFill>
                <a:latin typeface="Microsoft YaHei"/>
              </a:rPr>
              <a:t>&lt; 5ms</a:t>
            </a:r>
          </a:p>
          <a:p>
            <a:pPr algn="ctr">
              <a:spcBef>
                <a:spcPts val="200"/>
              </a:spcBef>
            </a:pPr>
            <a:r>
              <a:rPr sz="1300" b="0">
                <a:solidFill>
                  <a:srgbClr val="9A9EB8"/>
                </a:solidFill>
                <a:latin typeface="Microsoft YaHei"/>
              </a:rPr>
              <a:t>Fast Path
平均延迟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199" y="1371600"/>
            <a:ext cx="1737360" cy="109728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FFA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 b="1">
                <a:solidFill>
                  <a:srgbClr val="FFA62B"/>
                </a:solidFill>
                <a:latin typeface="Microsoft YaHei"/>
              </a:rPr>
              <a:t>100%</a:t>
            </a:r>
          </a:p>
          <a:p>
            <a:pPr algn="ctr">
              <a:spcBef>
                <a:spcPts val="200"/>
              </a:spcBef>
            </a:pPr>
            <a:r>
              <a:rPr sz="1300" b="0">
                <a:solidFill>
                  <a:srgbClr val="9A9EB8"/>
                </a:solidFill>
                <a:latin typeface="Microsoft YaHei"/>
              </a:rPr>
              <a:t>Slow Path
通过率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9" y="1371600"/>
            <a:ext cx="1737360" cy="109728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FFA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 b="1">
                <a:solidFill>
                  <a:srgbClr val="FFA62B"/>
                </a:solidFill>
                <a:latin typeface="Microsoft YaHei"/>
              </a:rPr>
              <a:t>~26s</a:t>
            </a:r>
          </a:p>
          <a:p>
            <a:pPr algn="ctr">
              <a:spcBef>
                <a:spcPts val="200"/>
              </a:spcBef>
            </a:pPr>
            <a:r>
              <a:rPr sz="1300" b="0">
                <a:solidFill>
                  <a:srgbClr val="9A9EB8"/>
                </a:solidFill>
                <a:latin typeface="Microsoft YaHei"/>
              </a:rPr>
              <a:t>Slow Path
平均延迟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39" y="1371600"/>
            <a:ext cx="1737360" cy="109728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FFD6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 b="1">
                <a:solidFill>
                  <a:srgbClr val="FFD66B"/>
                </a:solidFill>
                <a:latin typeface="Microsoft YaHei"/>
              </a:rPr>
              <a:t>100%</a:t>
            </a:r>
          </a:p>
          <a:p>
            <a:pPr algn="ctr">
              <a:spcBef>
                <a:spcPts val="200"/>
              </a:spcBef>
            </a:pPr>
            <a:r>
              <a:rPr sz="1300" b="0">
                <a:solidFill>
                  <a:srgbClr val="9A9EB8"/>
                </a:solidFill>
                <a:latin typeface="Microsoft YaHei"/>
              </a:rPr>
              <a:t>跨语言
准确率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743200"/>
            <a:ext cx="11064240" cy="384048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1">
                <a:solidFill>
                  <a:srgbClr val="00B4D8"/>
                </a:solidFill>
                <a:latin typeface="Microsoft YaHei"/>
              </a:rPr>
              <a:t>  Kimi-k2.5 实测输出 (真实API调用)</a:t>
            </a:r>
          </a:p>
          <a:p>
            <a:pPr algn="l">
              <a:spcBef>
                <a:spcPts val="1000"/>
              </a:spcBef>
            </a:pPr>
            <a:r>
              <a:rPr sz="1400" b="1">
                <a:solidFill>
                  <a:srgbClr val="FFD66B"/>
                </a:solidFill>
                <a:latin typeface="Microsoft YaHei"/>
              </a:rPr>
              <a:t>  "找到走廊里门旁边的灭火器"</a:t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FFA62B"/>
                </a:solidFill>
                <a:latin typeface="Microsoft YaHei"/>
              </a:rPr>
              <a:t>    [Slow Path, 26s]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 Room: corridor (指令明确指定'走廊', 该房间semantic_labels含fire extinguisher)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 → Group: safety (灭火器属安全设备组)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 → Object: id=2, fire extinguisher (验证relations: 与door有near关系, 距离1.0m, 完全匹配'门旁边')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 → 导航到 (0.8, 0.5), confidence=0.95</a:t>
            </a:r>
          </a:p>
          <a:p>
            <a:pPr algn="l">
              <a:spcBef>
                <a:spcPts val="1000"/>
              </a:spcBef>
            </a:pPr>
            <a:r>
              <a:rPr sz="1400" b="1">
                <a:solidFill>
                  <a:srgbClr val="FFD66B"/>
                </a:solidFill>
                <a:latin typeface="Microsoft YaHei"/>
              </a:rPr>
              <a:t>  "find the printer in office B"</a:t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06D6A0"/>
                </a:solidFill>
                <a:latin typeface="Microsoft YaHei"/>
              </a:rPr>
              <a:t>    [Fast Path, 1.4ms]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 label=1.0 (printer完全匹配) + det=0.87 + spatial=0.3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 → fused=0.83 &gt; 0.75阈值, 直接输出 (5.5, -2.5)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 无需调用LLM, 节省26秒和一次API费用!</a:t>
            </a:r>
          </a:p>
          <a:p>
            <a:pPr algn="l">
              <a:spcBef>
                <a:spcPts val="1000"/>
              </a:spcBef>
            </a:pPr>
            <a:r>
              <a:rPr sz="1400" b="1">
                <a:solidFill>
                  <a:srgbClr val="FFD66B"/>
                </a:solidFill>
                <a:latin typeface="Microsoft YaHei"/>
              </a:rPr>
              <a:t>  "去厨房拿杯水"</a:t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FFA62B"/>
                </a:solidFill>
                <a:latin typeface="Microsoft YaHei"/>
              </a:rPr>
              <a:t>    [Slow Path, 27s]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 Room: kitchen (指令明确指定'厨房', 通过passage与corridor直连)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 → Group: utility (厨房内实用设施组)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 → Object: sink (水槽) — LLM推理: '拿杯水'场景下sink是最直接的取水来源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 → 导航到 (-3.8, 2.8), confidence=0.92  [注意: 场景中没有'杯子', LLM做了语义推理!]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Segoe UI"/>
              </a:rPr>
              <a:t>07</a:t>
            </a:r>
          </a:p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  核心技术 3: 信念感知推理</a:t>
            </a:r>
            <a:r>
              <a:rPr sz="1600">
                <a:solidFill>
                  <a:srgbClr val="6B708D"/>
                </a:solidFill>
                <a:latin typeface="Segoe UI"/>
              </a:rPr>
              <a:t>  Belief-Aware Reasoning (BA-HSG)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17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64240" cy="731520"/>
          </a:xfrm>
          <a:prstGeom prst="roundRect">
            <a:avLst/>
          </a:prstGeom>
          <a:solidFill>
            <a:srgbClr val="1A203C"/>
          </a:solidFill>
          <a:ln w="1524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EF476F"/>
                </a:solidFill>
                <a:latin typeface="Microsoft YaHei"/>
              </a:rPr>
              <a:t>  问题: 检测器不完美 — YOLO可能漏检、误检、检测位置偏移。机器人怎么判断一个物体"真的在那里"?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  <a:latin typeface="Microsoft YaHei"/>
              </a:rPr>
              <a:t>  方案: 为每个物体维护概率信念状态, 用贝叶斯方法持续更新, 用信息价值(VoI)决定何时重新观察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3474720" cy="228600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00B4D8"/>
                </a:solidFill>
                <a:latin typeface="Microsoft YaHei"/>
              </a:rPr>
              <a:t> Beta分布 → 存在概率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每个物体: P_exist = alpha/(alpha+beta)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初始: alpha=2, beta=2 → P=0.5 (不确定)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每次检测到: alpha++ → P上升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每次该看到却没看到: beta++ → P下降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30帧后: P从0.5→0.9 (反复确认)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连续10帧没看到: P从0.9→0.5 (可疑)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11162B"/>
                </a:solidFill>
                <a:latin typeface="Microsoft YaHei"/>
              </a:rPr>
              <a:t>  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本质: 用观测证据量化"这个物体存在吗?"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2377440"/>
            <a:ext cx="3474720" cy="228600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06D6A0"/>
                </a:solidFill>
                <a:latin typeface="Microsoft YaHei"/>
              </a:rPr>
              <a:t> Gaussian → 位置精度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每个物体: 3D位置 ~ N(mu, sigma)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初始: sigma = 1.0m (不确定)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多次观测: sigma收缩 → 位置更精确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不同角度观测 → sigma更快收缩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长时间未观测 → sigma缓慢膨胀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11162B"/>
                </a:solidFill>
                <a:latin typeface="Microsoft YaHei"/>
              </a:rPr>
              <a:t>  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本质: 量化"物体精确在哪?"的信心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用于多假设规划的期望成本计算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2377440"/>
            <a:ext cx="3474720" cy="228600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FFA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FFA62B"/>
                </a:solidFill>
                <a:latin typeface="Microsoft YaHei"/>
              </a:rPr>
              <a:t> 图扩散 → 邻域传播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新发现的物体如果在已知物体附近: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 → 继承邻居的可信度加成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 → "桌上的杯子"自动获得boost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距离衰减: boost = 1/(1 + dist/lambda)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lambda = 4.0m (衰减半径)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11162B"/>
                </a:solidFill>
                <a:latin typeface="Microsoft YaHei"/>
              </a:rPr>
              <a:t>  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本质: 空间上下文增强物体可信度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灵感: 图神经网络的消息传递思想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937760"/>
            <a:ext cx="11064240" cy="164592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FFD6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1">
                <a:solidFill>
                  <a:srgbClr val="FFD66B"/>
                </a:solidFill>
                <a:latin typeface="Microsoft YaHei"/>
              </a:rPr>
              <a:t>  复合可信度公式</a:t>
            </a:r>
          </a:p>
          <a:p>
            <a:pPr algn="l">
              <a:spcBef>
                <a:spcPts val="600"/>
              </a:spcBef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  Credibility = P_exist x max(D_score, CLIP_sim) x Freshness x GraphBoost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9A9EB8"/>
                </a:solidFill>
                <a:latin typeface="Microsoft YaHei"/>
              </a:rPr>
              <a:t>  P_exist: Beta分布存在概率 | D_score: 检测器置信度 | CLIP_sim: 语义相似度 | Freshness: 时间衰减(120s半衰) | GraphBoost: 邻域传播加成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48CAE4"/>
                </a:solidFill>
                <a:latin typeface="Microsoft YaHei"/>
              </a:rPr>
              <a:t>  Credibility &gt; 0.7 → 高置信导航 | 0.3~0.7 → 谨慎接近 | &lt; 0.3 → 需要重新感知 (VoI触发)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Segoe UI"/>
              </a:rPr>
              <a:t>08</a:t>
            </a:r>
          </a:p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  核心技术 4: VoI调度 + 多假设规划</a:t>
            </a:r>
            <a:r>
              <a:rPr sz="1600">
                <a:solidFill>
                  <a:srgbClr val="6B708D"/>
                </a:solidFill>
                <a:latin typeface="Segoe UI"/>
              </a:rPr>
              <a:t>  Value-of-Information &amp; Multi-Hypothesis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17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486400" cy="274320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1">
                <a:solidFill>
                  <a:srgbClr val="00B4D8"/>
                </a:solidFill>
                <a:latin typeface="Microsoft YaHei"/>
              </a:rPr>
              <a:t>  VoI 自适应调度: 该看还是该走?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FFD66B"/>
                </a:solidFill>
                <a:latin typeface="Microsoft YaHei"/>
              </a:rPr>
              <a:t>  核心思想: 不是固定每2米重新看一次, 而是根据"信息价值"决定</a:t>
            </a:r>
          </a:p>
          <a:p>
            <a:pPr algn="l">
              <a:spcBef>
                <a:spcPts val="800"/>
              </a:spcBef>
            </a:pPr>
            <a:r>
              <a:rPr sz="1300" b="1">
                <a:solidFill>
                  <a:srgbClr val="06D6A0"/>
                </a:solidFill>
                <a:latin typeface="Microsoft YaHei"/>
              </a:rPr>
              <a:t>  Continue (77%)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 可信度 &gt; 0.7, 当前判断可靠, 继续走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 不浪费检测/LLM算力</a:t>
            </a:r>
          </a:p>
          <a:p>
            <a:pPr algn="l">
              <a:spcBef>
                <a:spcPts val="800"/>
              </a:spcBef>
            </a:pPr>
            <a:r>
              <a:rPr sz="1300" b="1">
                <a:solidFill>
                  <a:srgbClr val="FFA62B"/>
                </a:solidFill>
                <a:latin typeface="Microsoft YaHei"/>
              </a:rPr>
              <a:t>  Reperceive (23%)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 可信度 &lt; 0.3, 需要重新观察验证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 运动了足够距离(&gt;2m) + 冷却期</a:t>
            </a:r>
          </a:p>
          <a:p>
            <a:pPr algn="l">
              <a:spcBef>
                <a:spcPts val="800"/>
              </a:spcBef>
            </a:pPr>
            <a:r>
              <a:rPr sz="1300" b="1">
                <a:solidFill>
                  <a:srgbClr val="EF476F"/>
                </a:solidFill>
                <a:latin typeface="Microsoft YaHei"/>
              </a:rPr>
              <a:t>  Slow Reason (罕见)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 场景图不足以解析指令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 调用LLM做深度推理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389120"/>
            <a:ext cx="5486400" cy="210312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06D6A0"/>
                </a:solidFill>
                <a:latin typeface="Microsoft YaHei"/>
              </a:rPr>
              <a:t>  VoI vs 固定间隔 (100步模拟)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9A9EB8"/>
                </a:solidFill>
                <a:latin typeface="Microsoft YaHei"/>
              </a:rPr>
              <a:t>  固定2m间隔: 每7步触发1次 → 14次/100步 (均匀分布)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9A9EB8"/>
                </a:solidFill>
                <a:latin typeface="Microsoft YaHei"/>
              </a:rPr>
              <a:t>  VoI自适应: 高置信不触发 → 23次/100步 (集中在不确定时)</a:t>
            </a:r>
          </a:p>
          <a:p>
            <a:pPr algn="l">
              <a:spcBef>
                <a:spcPts val="600"/>
              </a:spcBef>
            </a:pPr>
            <a:r>
              <a:rPr sz="1200" b="1">
                <a:solidFill>
                  <a:srgbClr val="FFD66B"/>
                </a:solidFill>
                <a:latin typeface="Microsoft YaHei"/>
              </a:rPr>
              <a:t>  结论: VoI在确定时节省算力, 不确定时更积极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00B4D8"/>
                </a:solidFill>
                <a:latin typeface="Microsoft YaHei"/>
              </a:rPr>
              <a:t>  77%时间零开销 + 23%精准感知 = 最优资源分配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212080" cy="512064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FFD6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1">
                <a:solidFill>
                  <a:srgbClr val="FFD66B"/>
                </a:solidFill>
                <a:latin typeface="Microsoft YaHei"/>
              </a:rPr>
              <a:t>  多假设目标规划</a:t>
            </a:r>
          </a:p>
          <a:p>
            <a:pPr algn="l">
              <a:spcBef>
                <a:spcPts val="600"/>
              </a:spcBef>
            </a:pPr>
            <a:r>
              <a:rPr sz="1300" b="1">
                <a:solidFill>
                  <a:srgbClr val="EF476F"/>
                </a:solidFill>
                <a:latin typeface="Microsoft YaHei"/>
              </a:rPr>
              <a:t>  问题: 场景里有3个灭火器, 去哪个?</a:t>
            </a:r>
          </a:p>
          <a:p>
            <a:pPr algn="l">
              <a:spcBef>
                <a:spcPts val="800"/>
              </a:spcBef>
            </a:pPr>
            <a:r>
              <a:rPr sz="1200" b="1">
                <a:solidFill>
                  <a:srgbClr val="48CAE4"/>
                </a:solidFill>
                <a:latin typeface="Microsoft YaHei"/>
              </a:rPr>
              <a:t>  Step 1: 建立假设集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 3个灭火器 → 3个候选, 各有后验概率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 综合考虑: 可信度 + 距离 + 语义匹配</a:t>
            </a:r>
          </a:p>
          <a:p>
            <a:pPr algn="l">
              <a:spcBef>
                <a:spcPts val="800"/>
              </a:spcBef>
            </a:pPr>
            <a:r>
              <a:rPr sz="1200" b="1">
                <a:solidFill>
                  <a:srgbClr val="48CAE4"/>
                </a:solidFill>
                <a:latin typeface="Microsoft YaHei"/>
              </a:rPr>
              <a:t>  Step 2: 期望成本选择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 Expected Cost = P(wrong) x travel_cost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 选总期望成本最低的 (不是最近的!)</a:t>
            </a:r>
          </a:p>
          <a:p>
            <a:pPr algn="l">
              <a:spcBef>
                <a:spcPts val="800"/>
              </a:spcBef>
            </a:pPr>
            <a:r>
              <a:rPr sz="1200" b="1">
                <a:solidFill>
                  <a:srgbClr val="48CAE4"/>
                </a:solidFill>
                <a:latin typeface="Microsoft YaHei"/>
              </a:rPr>
              <a:t>  Step 3: 到达验证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 到达候选位置 → 重新检测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 确认 → 任务完成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 未确认 → 贝叶斯更新, 该候选概率↓</a:t>
            </a:r>
          </a:p>
          <a:p>
            <a:pPr algn="l">
              <a:spcBef>
                <a:spcPts val="800"/>
              </a:spcBef>
            </a:pPr>
            <a:r>
              <a:rPr sz="1200" b="1">
                <a:solidFill>
                  <a:srgbClr val="48CAE4"/>
                </a:solidFill>
                <a:latin typeface="Microsoft YaHei"/>
              </a:rPr>
              <a:t>  Step 4: 迭代收敛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 概率重分配 → 选下一个最高概率候选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 平均1.6次找到 (vs随机3.0次)</a:t>
            </a:r>
          </a:p>
          <a:p>
            <a:pPr algn="l">
              <a:spcBef>
                <a:spcPts val="800"/>
              </a:spcBef>
            </a:pPr>
            <a:r>
              <a:rPr sz="1200" b="1">
                <a:solidFill>
                  <a:srgbClr val="48CAE4"/>
                </a:solidFill>
                <a:latin typeface="Microsoft YaHei"/>
              </a:rPr>
              <a:t>  实测结果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 20个场景, 100%成功率 (20/20)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 平均尝试1.6次 (效率提升47%)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Segoe UI"/>
              </a:rPr>
              <a:t>09</a:t>
            </a:r>
          </a:p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  核心技术 5: 拓扑语义探索 — 原理</a:t>
            </a:r>
            <a:r>
              <a:rPr sz="1600">
                <a:solidFill>
                  <a:srgbClr val="6B708D"/>
                </a:solidFill>
                <a:latin typeface="Segoe UI"/>
              </a:rPr>
              <a:t>  Topology-Aware Semantic Exploration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17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64240" cy="731520"/>
          </a:xfrm>
          <a:prstGeom prst="roundRect">
            <a:avLst/>
          </a:prstGeom>
          <a:solidFill>
            <a:srgbClr val="1A203C"/>
          </a:solidFill>
          <a:ln w="15240">
            <a:solidFill>
              <a:srgbClr val="A7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EF476F"/>
                </a:solidFill>
                <a:latin typeface="Microsoft YaHei"/>
              </a:rPr>
              <a:t>  问题: 目标物体不在当前场景图中 → 机器人去哪里探索最有可能找到?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  <a:latin typeface="Microsoft YaHei"/>
              </a:rPr>
              <a:t>  方案: 构建拓扑语义图(TSG), 用信息增益(IG)算法自动选择最优探索目标, 1ms完成无需LLM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3657600" cy="411480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A7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1">
                <a:solidFill>
                  <a:srgbClr val="A77BFF"/>
                </a:solidFill>
                <a:latin typeface="Microsoft YaHei"/>
              </a:rPr>
              <a:t> 拓扑语义图 (TSG) 结构</a:t>
            </a:r>
          </a:p>
          <a:p>
            <a:pPr algn="l">
              <a:spcBef>
                <a:spcPts val="600"/>
              </a:spcBef>
            </a:pPr>
            <a:r>
              <a:rPr sz="1100" b="1">
                <a:solidFill>
                  <a:srgbClr val="FFD66B"/>
                </a:solidFill>
                <a:latin typeface="Microsoft YaHei"/>
              </a:rPr>
              <a:t> Room Nodes (房间节点)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9A9EB8"/>
                </a:solidFill>
                <a:latin typeface="Microsoft YaHei"/>
              </a:rPr>
              <a:t>   从层次场景图同步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9A9EB8"/>
                </a:solidFill>
                <a:latin typeface="Microsoft YaHei"/>
              </a:rPr>
              <a:t>   属性: 类型/中心/物体列表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9A9EB8"/>
                </a:solidFill>
                <a:latin typeface="Microsoft YaHei"/>
              </a:rPr>
              <a:t>   状态: 已访问/未访问/访问次数</a:t>
            </a:r>
          </a:p>
          <a:p>
            <a:pPr algn="l">
              <a:spcBef>
                <a:spcPts val="600"/>
              </a:spcBef>
            </a:pPr>
            <a:r>
              <a:rPr sz="1100" b="1">
                <a:solidFill>
                  <a:srgbClr val="FFD66B"/>
                </a:solidFill>
                <a:latin typeface="Microsoft YaHei"/>
              </a:rPr>
              <a:t> Frontier Nodes (前沿节点)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9A9EB8"/>
                </a:solidFill>
                <a:latin typeface="Microsoft YaHei"/>
              </a:rPr>
              <a:t>   未探索区域的入口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9A9EB8"/>
                </a:solidFill>
                <a:latin typeface="Microsoft YaHei"/>
              </a:rPr>
              <a:t>   检测策略1: 门指向无房间 → 前沿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9A9EB8"/>
                </a:solidFill>
                <a:latin typeface="Microsoft YaHei"/>
              </a:rPr>
              <a:t>   检测策略2: 物体稀疏方向 → 前沿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9A9EB8"/>
                </a:solidFill>
                <a:latin typeface="Microsoft YaHei"/>
              </a:rPr>
              <a:t>   属性: 位置/方向/预测房间类型</a:t>
            </a:r>
          </a:p>
          <a:p>
            <a:pPr algn="l">
              <a:spcBef>
                <a:spcPts val="600"/>
              </a:spcBef>
            </a:pPr>
            <a:r>
              <a:rPr sz="1100" b="1">
                <a:solidFill>
                  <a:srgbClr val="FFD66B"/>
                </a:solidFill>
                <a:latin typeface="Microsoft YaHei"/>
              </a:rPr>
              <a:t> Edges (拓扑边)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9A9EB8"/>
                </a:solidFill>
                <a:latin typeface="Microsoft YaHei"/>
              </a:rPr>
              <a:t>   Door: 两房间共享一扇门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9A9EB8"/>
                </a:solidFill>
                <a:latin typeface="Microsoft YaHei"/>
              </a:rPr>
              <a:t>   Passage: 过道连通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9A9EB8"/>
                </a:solidFill>
                <a:latin typeface="Microsoft YaHei"/>
              </a:rPr>
              <a:t>   Proximity: 空间邻近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9A9EB8"/>
                </a:solidFill>
                <a:latin typeface="Microsoft YaHei"/>
              </a:rPr>
              <a:t>   Traversal: 机器人实际走过</a:t>
            </a:r>
          </a:p>
          <a:p>
            <a:pPr algn="l">
              <a:spcBef>
                <a:spcPts val="600"/>
              </a:spcBef>
            </a:pPr>
            <a:r>
              <a:rPr sz="1100" b="1">
                <a:solidFill>
                  <a:srgbClr val="FFD66B"/>
                </a:solidFill>
                <a:latin typeface="Microsoft YaHei"/>
              </a:rPr>
              <a:t> Traversal Memory (穿越记忆)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9A9EB8"/>
                </a:solidFill>
                <a:latin typeface="Microsoft YaHei"/>
              </a:rPr>
              <a:t>   记录每次房间转换事件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9A9EB8"/>
                </a:solidFill>
                <a:latin typeface="Microsoft YaHei"/>
              </a:rPr>
              <a:t>   走过的边 → 置信度提升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9A9EB8"/>
                </a:solidFill>
                <a:latin typeface="Microsoft YaHei"/>
              </a:rPr>
              <a:t>   走过的房间 → 新颖度降低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377440"/>
            <a:ext cx="3657600" cy="411480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1">
                <a:solidFill>
                  <a:srgbClr val="00B4D8"/>
                </a:solidFill>
                <a:latin typeface="Microsoft YaHei"/>
              </a:rPr>
              <a:t> Algorithm 2: 信息增益探索</a:t>
            </a:r>
          </a:p>
          <a:p>
            <a:pPr algn="l">
              <a:spcBef>
                <a:spcPts val="800"/>
              </a:spcBef>
            </a:pPr>
            <a:r>
              <a:rPr sz="1600" b="1">
                <a:solidFill>
                  <a:srgbClr val="FFD66B"/>
                </a:solidFill>
                <a:latin typeface="Microsoft YaHei"/>
              </a:rPr>
              <a:t> IG(n) = S_sem x N x U</a:t>
            </a:r>
          </a:p>
          <a:p>
            <a:pPr algn="l">
              <a:spcBef>
                <a:spcPts val="600"/>
              </a:spcBef>
            </a:pPr>
            <a:r>
              <a:rPr sz="1100" b="1">
                <a:solidFill>
                  <a:srgbClr val="48CAE4"/>
                </a:solidFill>
                <a:latin typeface="Microsoft YaHei"/>
              </a:rPr>
              <a:t> S_sem: 语义先验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9A9EB8"/>
                </a:solidFill>
                <a:latin typeface="Microsoft YaHei"/>
              </a:rPr>
              <a:t>   知识库: room_type → (object, prob)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9A9EB8"/>
                </a:solidFill>
                <a:latin typeface="Microsoft YaHei"/>
              </a:rPr>
              <a:t>   咖啡机 → kitchen: 0.9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9A9EB8"/>
                </a:solidFill>
                <a:latin typeface="Microsoft YaHei"/>
              </a:rPr>
              <a:t>   灭火器 → stairwell: 0.9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9A9EB8"/>
                </a:solidFill>
                <a:latin typeface="Microsoft YaHei"/>
              </a:rPr>
              <a:t>   投影仪 → meeting_room: 0.85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9A9EB8"/>
                </a:solidFill>
                <a:latin typeface="Microsoft YaHei"/>
              </a:rPr>
              <a:t>   10种房间 x 100+物体关联</a:t>
            </a:r>
          </a:p>
          <a:p>
            <a:pPr algn="l">
              <a:spcBef>
                <a:spcPts val="600"/>
              </a:spcBef>
            </a:pPr>
            <a:r>
              <a:rPr sz="1100" b="1">
                <a:solidFill>
                  <a:srgbClr val="48CAE4"/>
                </a:solidFill>
                <a:latin typeface="Microsoft YaHei"/>
              </a:rPr>
              <a:t> N: 新颖度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9A9EB8"/>
                </a:solidFill>
                <a:latin typeface="Microsoft YaHei"/>
              </a:rPr>
              <a:t>   未访问: N = 1.0 (最高)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9A9EB8"/>
                </a:solidFill>
                <a:latin typeface="Microsoft YaHei"/>
              </a:rPr>
              <a:t>   已访问: N = 0.1 + 0.9*exp(-0.5*count)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9A9EB8"/>
                </a:solidFill>
                <a:latin typeface="Microsoft YaHei"/>
              </a:rPr>
              <a:t>     x (1 - exp(-dt/120s))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9A9EB8"/>
                </a:solidFill>
                <a:latin typeface="Microsoft YaHei"/>
              </a:rPr>
              <a:t>   去过1次: N~0.1 → IG降90%!</a:t>
            </a:r>
          </a:p>
          <a:p>
            <a:pPr algn="l">
              <a:spcBef>
                <a:spcPts val="600"/>
              </a:spcBef>
            </a:pPr>
            <a:r>
              <a:rPr sz="1100" b="1">
                <a:solidFill>
                  <a:srgbClr val="48CAE4"/>
                </a:solidFill>
                <a:latin typeface="Microsoft YaHei"/>
              </a:rPr>
              <a:t> U: 不确定度降低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9A9EB8"/>
                </a:solidFill>
                <a:latin typeface="Microsoft YaHei"/>
              </a:rPr>
              <a:t>   前沿节点: U_base = 0.6 (高不确定)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9A9EB8"/>
                </a:solidFill>
                <a:latin typeface="Microsoft YaHei"/>
              </a:rPr>
              <a:t>   稀疏房间: U = 0.3 (中等)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9A9EB8"/>
                </a:solidFill>
                <a:latin typeface="Microsoft YaHei"/>
              </a:rPr>
              <a:t>   密集房间: U = 0.1 (已充分探索)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2377440"/>
            <a:ext cx="3291840" cy="182880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1">
                <a:solidFill>
                  <a:srgbClr val="06D6A0"/>
                </a:solidFill>
                <a:latin typeface="Microsoft YaHei"/>
              </a:rPr>
              <a:t> 最终评分</a:t>
            </a:r>
          </a:p>
          <a:p>
            <a:pPr algn="l">
              <a:spcBef>
                <a:spcPts val="600"/>
              </a:spcBef>
            </a:pPr>
            <a:r>
              <a:rPr sz="1400" b="1">
                <a:solidFill>
                  <a:srgbClr val="FFD66B"/>
                </a:solidFill>
                <a:latin typeface="Microsoft YaHei"/>
              </a:rPr>
              <a:t> Score = IG / (1+0.3*d)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d = Dijkstra最短路径距离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远处IG高的不如近处IG中的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48CAE4"/>
                </a:solidFill>
                <a:latin typeface="Microsoft YaHei"/>
              </a:rPr>
              <a:t>   平衡 "信息量" vs "到达成本"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4480560"/>
            <a:ext cx="3291840" cy="201168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FFA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1">
                <a:solidFill>
                  <a:srgbClr val="FFA62B"/>
                </a:solidFill>
                <a:latin typeface="Microsoft YaHei"/>
              </a:rPr>
              <a:t> 双层探索策略</a:t>
            </a:r>
          </a:p>
          <a:p>
            <a:pPr algn="l">
              <a:spcBef>
                <a:spcPts val="600"/>
              </a:spcBef>
            </a:pPr>
            <a:r>
              <a:rPr sz="1200" b="1">
                <a:solidFill>
                  <a:srgbClr val="06D6A0"/>
                </a:solidFill>
                <a:latin typeface="Microsoft YaHei"/>
              </a:rPr>
              <a:t> Layer 1: TSG算法 (~1ms)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纯算法, 无API成本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覆盖~70%场景</a:t>
            </a:r>
          </a:p>
          <a:p>
            <a:pPr algn="l">
              <a:spcBef>
                <a:spcPts val="600"/>
              </a:spcBef>
            </a:pPr>
            <a:r>
              <a:rPr sz="1200" b="1">
                <a:solidFill>
                  <a:srgbClr val="FFA62B"/>
                </a:solidFill>
                <a:latin typeface="Microsoft YaHei"/>
              </a:rPr>
              <a:t> Layer 2: LLM (fallback)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注入拓扑摘要给LLM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LLM有空间上下文更准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Segoe UI"/>
              </a:rPr>
              <a:t>10</a:t>
            </a:r>
          </a:p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  核心技术 5: 拓扑探索 — 实测对比</a:t>
            </a:r>
            <a:r>
              <a:rPr sz="1600">
                <a:solidFill>
                  <a:srgbClr val="6B708D"/>
                </a:solidFill>
                <a:latin typeface="Segoe UI"/>
              </a:rPr>
              <a:t>  TSG vs LLM Real Test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17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03520" cy="201168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FFD66B"/>
                </a:solidFill>
                <a:latin typeface="Microsoft YaHei"/>
              </a:rPr>
              <a:t>  Case 1: "找到咖啡机" (目标不存在)</a:t>
            </a:r>
          </a:p>
          <a:p>
            <a:pPr algn="l">
              <a:spcBef>
                <a:spcPts val="600"/>
              </a:spcBef>
            </a:pPr>
            <a:r>
              <a:rPr sz="1200" b="1">
                <a:solidFill>
                  <a:srgbClr val="00B4D8"/>
                </a:solidFill>
                <a:latin typeface="Microsoft YaHei"/>
              </a:rPr>
              <a:t>  TSG Algorithm 2: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  #1 stairwell (IG=0.460, score=0.184)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  #2 kitchen   (IG=0.440, score=0.176)</a:t>
            </a:r>
          </a:p>
          <a:p>
            <a:pPr algn="l">
              <a:spcBef>
                <a:spcPts val="400"/>
              </a:spcBef>
            </a:pPr>
            <a:r>
              <a:rPr sz="1200" b="1">
                <a:solidFill>
                  <a:srgbClr val="FFA62B"/>
                </a:solidFill>
                <a:latin typeface="Microsoft YaHei"/>
              </a:rPr>
              <a:t>  LLM (Kimi-k2.5): → kitchen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 "咖啡机最可能出现在厨房...前往厨房信息增益最大"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48CAE4"/>
                </a:solidFill>
                <a:latin typeface="Microsoft YaHei"/>
              </a:rPr>
              <a:t>  分析: LLM比TSG更准 (语义常识), TSG纯算法不知道咖啡机→厨房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303520" cy="201168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FFD66B"/>
                </a:solidFill>
                <a:latin typeface="Microsoft YaHei"/>
              </a:rPr>
              <a:t>  Case 2: "find fire ext on 2nd floor"</a:t>
            </a:r>
          </a:p>
          <a:p>
            <a:pPr algn="l">
              <a:spcBef>
                <a:spcPts val="600"/>
              </a:spcBef>
            </a:pPr>
            <a:r>
              <a:rPr sz="1200" b="1">
                <a:solidFill>
                  <a:srgbClr val="00B4D8"/>
                </a:solidFill>
                <a:latin typeface="Microsoft YaHei"/>
              </a:rPr>
              <a:t>  TSG Algorithm 2: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6D6A0"/>
                </a:solidFill>
                <a:latin typeface="Microsoft YaHei"/>
              </a:rPr>
              <a:t>    #1 stairwell (IG=1.035, score=0.414) [大幅领先!]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  #2 frontier  (IG=0.600, score=0.136)</a:t>
            </a:r>
          </a:p>
          <a:p>
            <a:pPr algn="l">
              <a:spcBef>
                <a:spcPts val="400"/>
              </a:spcBef>
            </a:pPr>
            <a:r>
              <a:rPr sz="1200" b="1">
                <a:solidFill>
                  <a:srgbClr val="FFA62B"/>
                </a:solidFill>
                <a:latin typeface="Microsoft YaHei"/>
              </a:rPr>
              <a:t>  LLM (Kimi-k2.5): → stairwell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  "Fire ext legally required in stairwells...highest prior 0.9"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48CAE4"/>
                </a:solidFill>
                <a:latin typeface="Microsoft YaHei"/>
              </a:rPr>
              <a:t>  分析: TSG和LLM完全一致! 语义先验正确引导到stairwell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657600"/>
            <a:ext cx="11064240" cy="292608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A7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1">
                <a:solidFill>
                  <a:srgbClr val="A77BFF"/>
                </a:solidFill>
                <a:latin typeface="Microsoft YaHei"/>
              </a:rPr>
              <a:t>  Case 3: 穿越记忆效果 — "找到灭火器" (3轮探索)</a:t>
            </a:r>
          </a:p>
          <a:p>
            <a:pPr algn="l">
              <a:spcBef>
                <a:spcPts val="800"/>
              </a:spcBef>
            </a:pPr>
            <a:r>
              <a:rPr sz="1300" b="1">
                <a:solidFill>
                  <a:srgbClr val="00B4D8"/>
                </a:solidFill>
                <a:latin typeface="Microsoft YaHei"/>
              </a:rPr>
              <a:t>  Round 1: 刚开始在corridor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  stairwell(0.414) &gt; frontier(0.127) &gt; kitchen(0.066) &gt; office_B(0.063)</a:t>
            </a:r>
          </a:p>
          <a:p>
            <a:pPr algn="l">
              <a:spcBef>
                <a:spcPts val="600"/>
              </a:spcBef>
            </a:pPr>
            <a:r>
              <a:rPr sz="1300" b="1">
                <a:solidFill>
                  <a:srgbClr val="FFA62B"/>
                </a:solidFill>
                <a:latin typeface="Microsoft YaHei"/>
              </a:rPr>
              <a:t>  Round 2: 去了office_A, 没找到, 回来了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  stairwell(0.414) &gt; frontier(0.127) &gt; kitchen(0.066) &gt; office_B(0.063) [office_A已消失]</a:t>
            </a:r>
          </a:p>
          <a:p>
            <a:pPr algn="l">
              <a:spcBef>
                <a:spcPts val="600"/>
              </a:spcBef>
            </a:pPr>
            <a:r>
              <a:rPr sz="1300" b="1">
                <a:solidFill>
                  <a:srgbClr val="EF476F"/>
                </a:solidFill>
                <a:latin typeface="Microsoft YaHei"/>
              </a:rPr>
              <a:t>  Round 3: 又去了kitchen, 没找到, 回来了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  stairwell(0.414) &gt; frontier(0.127) &gt; office_B(0.063) &gt; kitchen(0.006) [kitchen IG暴降90%!]</a:t>
            </a:r>
          </a:p>
          <a:p>
            <a:pPr algn="l">
              <a:spcBef>
                <a:spcPts val="600"/>
              </a:spcBef>
            </a:pPr>
            <a:r>
              <a:rPr sz="1200" b="1">
                <a:solidFill>
                  <a:srgbClr val="FFD66B"/>
                </a:solidFill>
                <a:latin typeface="Microsoft YaHei"/>
              </a:rPr>
              <a:t>  LLM最终建议: "向西南探索到stairwell, 避开已探索的东北(office_A)和西北(kitchen)方向"</a:t>
            </a:r>
          </a:p>
          <a:p>
            <a:pPr algn="l">
              <a:spcBef>
                <a:spcPts val="400"/>
              </a:spcBef>
            </a:pPr>
            <a:r>
              <a:rPr sz="1200" b="1">
                <a:solidFill>
                  <a:srgbClr val="06D6A0"/>
                </a:solidFill>
                <a:latin typeface="Microsoft YaHei"/>
              </a:rPr>
              <a:t>  穿越记忆完美阻止重复探索 + LLM正确利用负面记忆!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Segoe UI"/>
              </a:rPr>
              <a:t>11</a:t>
            </a:r>
          </a:p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  完整测试验证</a:t>
            </a:r>
            <a:r>
              <a:rPr sz="1600">
                <a:solidFill>
                  <a:srgbClr val="6B708D"/>
                </a:solidFill>
                <a:latin typeface="Segoe UI"/>
              </a:rPr>
              <a:t>  Test Results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17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103120" cy="109728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 b="1">
                <a:solidFill>
                  <a:srgbClr val="06D6A0"/>
                </a:solidFill>
                <a:latin typeface="Microsoft YaHei"/>
              </a:rPr>
              <a:t>99/99</a:t>
            </a:r>
          </a:p>
          <a:p>
            <a:pPr algn="ctr">
              <a:spcBef>
                <a:spcPts val="200"/>
              </a:spcBef>
            </a:pPr>
            <a:r>
              <a:rPr sz="1300" b="0">
                <a:solidFill>
                  <a:srgbClr val="9A9EB8"/>
                </a:solidFill>
                <a:latin typeface="Microsoft YaHei"/>
              </a:rPr>
              <a:t>测试全部通过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8920" y="1371600"/>
            <a:ext cx="2103120" cy="109728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 b="1">
                <a:solidFill>
                  <a:srgbClr val="00B4D8"/>
                </a:solidFill>
                <a:latin typeface="Microsoft YaHei"/>
              </a:rPr>
              <a:t>33/33</a:t>
            </a:r>
          </a:p>
          <a:p>
            <a:pPr algn="ctr">
              <a:spcBef>
                <a:spcPts val="200"/>
              </a:spcBef>
            </a:pPr>
            <a:r>
              <a:rPr sz="1300" b="0">
                <a:solidFill>
                  <a:srgbClr val="9A9EB8"/>
                </a:solidFill>
                <a:latin typeface="Microsoft YaHei"/>
              </a:rPr>
              <a:t>拓扑图测试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371600"/>
            <a:ext cx="2103120" cy="109728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FFA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 b="1">
                <a:solidFill>
                  <a:srgbClr val="FFA62B"/>
                </a:solidFill>
                <a:latin typeface="Microsoft YaHei"/>
              </a:rPr>
              <a:t>40/40</a:t>
            </a:r>
          </a:p>
          <a:p>
            <a:pPr algn="ctr">
              <a:spcBef>
                <a:spcPts val="200"/>
              </a:spcBef>
            </a:pPr>
            <a:r>
              <a:rPr sz="1300" b="0">
                <a:solidFill>
                  <a:srgbClr val="9A9EB8"/>
                </a:solidFill>
                <a:latin typeface="Microsoft YaHei"/>
              </a:rPr>
              <a:t>离线管线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0" y="1371600"/>
            <a:ext cx="2103120" cy="109728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A7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 b="1" dirty="0">
                <a:solidFill>
                  <a:srgbClr val="A77BFF"/>
                </a:solidFill>
                <a:latin typeface="Microsoft YaHei"/>
              </a:rPr>
              <a:t>26/26</a:t>
            </a:r>
          </a:p>
          <a:p>
            <a:pPr algn="ctr">
              <a:spcBef>
                <a:spcPts val="200"/>
              </a:spcBef>
            </a:pPr>
            <a:r>
              <a:rPr sz="1300" b="0" dirty="0" err="1">
                <a:solidFill>
                  <a:srgbClr val="9A9EB8"/>
                </a:solidFill>
                <a:latin typeface="Microsoft YaHei"/>
              </a:rPr>
              <a:t>信念系统</a:t>
            </a:r>
            <a:endParaRPr sz="1300" b="0" dirty="0">
              <a:solidFill>
                <a:srgbClr val="9A9EB8"/>
              </a:solidFill>
              <a:latin typeface="Microsoft YaHe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509760" y="1371600"/>
            <a:ext cx="2103120" cy="109728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FFD6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 b="1">
                <a:solidFill>
                  <a:srgbClr val="FFD66B"/>
                </a:solidFill>
                <a:latin typeface="Microsoft YaHei"/>
              </a:rPr>
              <a:t>12/12</a:t>
            </a:r>
          </a:p>
          <a:p>
            <a:pPr algn="ctr">
              <a:spcBef>
                <a:spcPts val="200"/>
              </a:spcBef>
            </a:pPr>
            <a:r>
              <a:rPr sz="1300" b="0">
                <a:solidFill>
                  <a:srgbClr val="9A9EB8"/>
                </a:solidFill>
                <a:latin typeface="Microsoft YaHei"/>
              </a:rPr>
              <a:t>LLM端到端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3657600" cy="365760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00B4D8"/>
                </a:solidFill>
                <a:latin typeface="Microsoft YaHei"/>
              </a:rPr>
              <a:t> 拓扑图 (33测试)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图构建: 同步/类型推理/状态保持 (5/5)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前沿节点: 添加/更新/清除/去重 (4/4)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穿越记忆: 检测/转换/边创建/计数 (4/4)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最短路径: 邻居/2跳/不可达/BFS (4/4)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信息增益: 未访&gt;已访/前沿/语义 (3/3)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探索目标: 选择/偏好/前沿/衰减/topK (5/5)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序列化: JSON往返/可序列化 (2/2)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Prompt: 中英文拓扑摘要 (2/2)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边界: 空图/单房间/越界/位置查询 (4/4)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743200"/>
            <a:ext cx="3657600" cy="365760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FFA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FFA62B"/>
                </a:solidFill>
                <a:latin typeface="Microsoft YaHei"/>
              </a:rPr>
              <a:t> 离线管线 (40测试)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L1快路径: 20种英文物体 (20/20)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L2快路径: 5种空间关系 (5/5)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中文落入慢路径: 验证正确fallback (1/1)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延迟: 所有Fast Path &lt; 5ms (1/1)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任务分解: L1全部/L3多步/Follow (6/6)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信念端到端: 正向/反向/图扩散 (3/3)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多假设: 初始/贝叶斯更新/收敛 (3/3)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VoI: 高置信/低置信/冷却/运动 (4/4)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2743200"/>
            <a:ext cx="3657600" cy="365760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FFD6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FFD66B"/>
                </a:solidFill>
                <a:latin typeface="Microsoft YaHei"/>
              </a:rPr>
              <a:t> LLM端到端 (12+6测试)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英文Fast Path: 6用例 100% (6/6)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中文Slow Path: 4用例 100% (4/4)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探索: 2用例 100% (2/2)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TSG+LLM探索对比: 3场景 (3/3)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穿越记忆: 3轮迭代验证 (3/3)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11162B"/>
                </a:solidFill>
                <a:latin typeface="Microsoft YaHei"/>
              </a:rPr>
              <a:t>  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LLM后端: Kimi-k2.5 (Moonshot)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跨语言: 中→英 100% 准确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语义推理: '拿杯水'→sink 成功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Segoe UI"/>
              </a:rPr>
              <a:t>12</a:t>
            </a:r>
          </a:p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  竞品对比 &amp; 技术壁垒</a:t>
            </a:r>
            <a:r>
              <a:rPr sz="1600">
                <a:solidFill>
                  <a:srgbClr val="6B708D"/>
                </a:solidFill>
                <a:latin typeface="Segoe UI"/>
              </a:rPr>
              <a:t>  Competitive Landscape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17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1828800" cy="54864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B0E1A"/>
                </a:solidFill>
                <a:latin typeface="Microsoft YaHei"/>
              </a:rPr>
              <a:t>维度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31136" y="1280160"/>
            <a:ext cx="2103120" cy="54864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B0E1A"/>
                </a:solidFill>
                <a:latin typeface="Microsoft YaHei"/>
              </a:rPr>
              <a:t>SG-Nav
(2024)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1" y="1280160"/>
            <a:ext cx="2103120" cy="54864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B0E1A"/>
                </a:solidFill>
                <a:latin typeface="Microsoft YaHei"/>
              </a:rPr>
              <a:t>FSR-VLN
(2025)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10527" y="1280160"/>
            <a:ext cx="2103120" cy="54864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B0E1A"/>
                </a:solidFill>
                <a:latin typeface="Microsoft YaHei"/>
              </a:rPr>
              <a:t>CLIP-Frontier
(CoW)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50224" y="1280160"/>
            <a:ext cx="3291840" cy="54864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B0E1A"/>
                </a:solidFill>
                <a:latin typeface="Microsoft YaHei"/>
              </a:rPr>
              <a:t>NaviMind
灵途 (Ours)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764792"/>
            <a:ext cx="1828800" cy="457200"/>
          </a:xfrm>
          <a:prstGeom prst="roundRect">
            <a:avLst/>
          </a:prstGeom>
          <a:solidFill>
            <a:srgbClr val="11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D66B"/>
                </a:solidFill>
                <a:latin typeface="Microsoft YaHei"/>
              </a:rPr>
              <a:t>运行环境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31136" y="1764792"/>
            <a:ext cx="2103120" cy="457200"/>
          </a:xfrm>
          <a:prstGeom prst="roundRect">
            <a:avLst/>
          </a:prstGeom>
          <a:solidFill>
            <a:srgbClr val="11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9A9EB8"/>
                </a:solidFill>
                <a:latin typeface="Microsoft YaHei"/>
              </a:rPr>
              <a:t>仿真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1" y="1764792"/>
            <a:ext cx="2103120" cy="457200"/>
          </a:xfrm>
          <a:prstGeom prst="roundRect">
            <a:avLst/>
          </a:prstGeom>
          <a:solidFill>
            <a:srgbClr val="11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9A9EB8"/>
                </a:solidFill>
                <a:latin typeface="Microsoft YaHei"/>
              </a:rPr>
              <a:t>预建地图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7" y="1764792"/>
            <a:ext cx="2103120" cy="457200"/>
          </a:xfrm>
          <a:prstGeom prst="roundRect">
            <a:avLst/>
          </a:prstGeom>
          <a:solidFill>
            <a:srgbClr val="11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9A9EB8"/>
                </a:solidFill>
                <a:latin typeface="Microsoft YaHei"/>
              </a:rPr>
              <a:t>未知环境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50224" y="1764792"/>
            <a:ext cx="3291840" cy="457200"/>
          </a:xfrm>
          <a:prstGeom prst="roundRect">
            <a:avLst/>
          </a:prstGeom>
          <a:solidFill>
            <a:srgbClr val="0A2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6D6A0"/>
                </a:solidFill>
                <a:latin typeface="Microsoft YaHei"/>
              </a:rPr>
              <a:t>未知+动态+在线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249424"/>
            <a:ext cx="1828800" cy="457200"/>
          </a:xfrm>
          <a:prstGeom prst="roundRect">
            <a:avLst/>
          </a:prstGeom>
          <a:solidFill>
            <a:srgbClr val="11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D66B"/>
                </a:solidFill>
                <a:latin typeface="Microsoft YaHei"/>
              </a:rPr>
              <a:t>场景图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31136" y="2249424"/>
            <a:ext cx="2103120" cy="457200"/>
          </a:xfrm>
          <a:prstGeom prst="roundRect">
            <a:avLst/>
          </a:prstGeom>
          <a:solidFill>
            <a:srgbClr val="11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9A9EB8"/>
                </a:solidFill>
                <a:latin typeface="Microsoft YaHei"/>
              </a:rPr>
              <a:t>3层确定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0831" y="2249424"/>
            <a:ext cx="2103120" cy="457200"/>
          </a:xfrm>
          <a:prstGeom prst="roundRect">
            <a:avLst/>
          </a:prstGeom>
          <a:solidFill>
            <a:srgbClr val="11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9A9EB8"/>
                </a:solidFill>
                <a:latin typeface="Microsoft YaHei"/>
              </a:rPr>
              <a:t>4层离线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10527" y="2249424"/>
            <a:ext cx="2103120" cy="457200"/>
          </a:xfrm>
          <a:prstGeom prst="roundRect">
            <a:avLst/>
          </a:prstGeom>
          <a:solidFill>
            <a:srgbClr val="11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9A9EB8"/>
                </a:solidFill>
                <a:latin typeface="Microsoft YaHei"/>
              </a:rPr>
              <a:t>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50224" y="2249424"/>
            <a:ext cx="3291840" cy="457200"/>
          </a:xfrm>
          <a:prstGeom prst="roundRect">
            <a:avLst/>
          </a:prstGeom>
          <a:solidFill>
            <a:srgbClr val="0A2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6D6A0"/>
                </a:solidFill>
                <a:latin typeface="Microsoft YaHei"/>
              </a:rPr>
              <a:t>4层在线+信念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2734056"/>
            <a:ext cx="1828800" cy="457200"/>
          </a:xfrm>
          <a:prstGeom prst="roundRect">
            <a:avLst/>
          </a:prstGeom>
          <a:solidFill>
            <a:srgbClr val="11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D66B"/>
                </a:solidFill>
                <a:latin typeface="Microsoft YaHei"/>
              </a:rPr>
              <a:t>目标解析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31136" y="2734056"/>
            <a:ext cx="2103120" cy="457200"/>
          </a:xfrm>
          <a:prstGeom prst="roundRect">
            <a:avLst/>
          </a:prstGeom>
          <a:solidFill>
            <a:srgbClr val="11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9A9EB8"/>
                </a:solidFill>
                <a:latin typeface="Microsoft YaHei"/>
              </a:rPr>
              <a:t>每步LLM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0831" y="2734056"/>
            <a:ext cx="2103120" cy="457200"/>
          </a:xfrm>
          <a:prstGeom prst="roundRect">
            <a:avLst/>
          </a:prstGeom>
          <a:solidFill>
            <a:srgbClr val="11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9A9EB8"/>
                </a:solidFill>
                <a:latin typeface="Microsoft YaHei"/>
              </a:rPr>
              <a:t>CLIP+VLM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10527" y="2734056"/>
            <a:ext cx="2103120" cy="457200"/>
          </a:xfrm>
          <a:prstGeom prst="roundRect">
            <a:avLst/>
          </a:prstGeom>
          <a:solidFill>
            <a:srgbClr val="11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9A9EB8"/>
                </a:solidFill>
                <a:latin typeface="Microsoft YaHei"/>
              </a:rPr>
              <a:t>CLIP匹配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50224" y="2734056"/>
            <a:ext cx="3291840" cy="457200"/>
          </a:xfrm>
          <a:prstGeom prst="roundRect">
            <a:avLst/>
          </a:prstGeom>
          <a:solidFill>
            <a:srgbClr val="0A2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6D6A0"/>
                </a:solidFill>
                <a:latin typeface="Microsoft YaHei"/>
              </a:rPr>
              <a:t>Fast&lt;5ms+SlowLLM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218688"/>
            <a:ext cx="1828800" cy="457200"/>
          </a:xfrm>
          <a:prstGeom prst="roundRect">
            <a:avLst/>
          </a:prstGeom>
          <a:solidFill>
            <a:srgbClr val="11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D66B"/>
                </a:solidFill>
                <a:latin typeface="Microsoft YaHei"/>
              </a:rPr>
              <a:t>LLM调用率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231136" y="3218688"/>
            <a:ext cx="2103120" cy="457200"/>
          </a:xfrm>
          <a:prstGeom prst="roundRect">
            <a:avLst/>
          </a:prstGeom>
          <a:solidFill>
            <a:srgbClr val="11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9A9EB8"/>
                </a:solidFill>
                <a:latin typeface="Microsoft YaHei"/>
              </a:rPr>
              <a:t>100%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70831" y="3218688"/>
            <a:ext cx="2103120" cy="457200"/>
          </a:xfrm>
          <a:prstGeom prst="roundRect">
            <a:avLst/>
          </a:prstGeom>
          <a:solidFill>
            <a:srgbClr val="11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9A9EB8"/>
                </a:solidFill>
                <a:latin typeface="Microsoft YaHei"/>
              </a:rPr>
              <a:t>VLM精筛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10527" y="3218688"/>
            <a:ext cx="2103120" cy="457200"/>
          </a:xfrm>
          <a:prstGeom prst="roundRect">
            <a:avLst/>
          </a:prstGeom>
          <a:solidFill>
            <a:srgbClr val="11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9A9EB8"/>
                </a:solidFill>
                <a:latin typeface="Microsoft YaHei"/>
              </a:rPr>
              <a:t>0%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50224" y="3218688"/>
            <a:ext cx="3291840" cy="457200"/>
          </a:xfrm>
          <a:prstGeom prst="roundRect">
            <a:avLst/>
          </a:prstGeom>
          <a:solidFill>
            <a:srgbClr val="0A2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6D6A0"/>
                </a:solidFill>
                <a:latin typeface="Microsoft YaHei"/>
              </a:rPr>
              <a:t>~25% (节省75%)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3703320"/>
            <a:ext cx="1828800" cy="457200"/>
          </a:xfrm>
          <a:prstGeom prst="roundRect">
            <a:avLst/>
          </a:prstGeom>
          <a:solidFill>
            <a:srgbClr val="11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D66B"/>
                </a:solidFill>
                <a:latin typeface="Microsoft YaHei"/>
              </a:rPr>
              <a:t>不确定性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231136" y="3703320"/>
            <a:ext cx="2103120" cy="457200"/>
          </a:xfrm>
          <a:prstGeom prst="roundRect">
            <a:avLst/>
          </a:prstGeom>
          <a:solidFill>
            <a:srgbClr val="11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9A9EB8"/>
                </a:solidFill>
                <a:latin typeface="Microsoft YaHei"/>
              </a:rPr>
              <a:t>标量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70831" y="3703320"/>
            <a:ext cx="2103120" cy="457200"/>
          </a:xfrm>
          <a:prstGeom prst="roundRect">
            <a:avLst/>
          </a:prstGeom>
          <a:solidFill>
            <a:srgbClr val="11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9A9EB8"/>
                </a:solidFill>
                <a:latin typeface="Microsoft YaHei"/>
              </a:rPr>
              <a:t>无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10527" y="3703320"/>
            <a:ext cx="2103120" cy="457200"/>
          </a:xfrm>
          <a:prstGeom prst="roundRect">
            <a:avLst/>
          </a:prstGeom>
          <a:solidFill>
            <a:srgbClr val="11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9A9EB8"/>
                </a:solidFill>
                <a:latin typeface="Microsoft YaHei"/>
              </a:rPr>
              <a:t>无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50224" y="3703320"/>
            <a:ext cx="3291840" cy="457200"/>
          </a:xfrm>
          <a:prstGeom prst="roundRect">
            <a:avLst/>
          </a:prstGeom>
          <a:solidFill>
            <a:srgbClr val="0A2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6D6A0"/>
                </a:solidFill>
                <a:latin typeface="Microsoft YaHei"/>
              </a:rPr>
              <a:t>Beta+Gaussian+VoI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" y="4187952"/>
            <a:ext cx="1828800" cy="457200"/>
          </a:xfrm>
          <a:prstGeom prst="roundRect">
            <a:avLst/>
          </a:prstGeom>
          <a:solidFill>
            <a:srgbClr val="11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D66B"/>
                </a:solidFill>
                <a:latin typeface="Microsoft YaHei"/>
              </a:rPr>
              <a:t>探索策略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231136" y="4187952"/>
            <a:ext cx="2103120" cy="457200"/>
          </a:xfrm>
          <a:prstGeom prst="roundRect">
            <a:avLst/>
          </a:prstGeom>
          <a:solidFill>
            <a:srgbClr val="11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9A9EB8"/>
                </a:solidFill>
                <a:latin typeface="Microsoft YaHei"/>
              </a:rPr>
              <a:t>LLM引导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70831" y="4187952"/>
            <a:ext cx="2103120" cy="457200"/>
          </a:xfrm>
          <a:prstGeom prst="roundRect">
            <a:avLst/>
          </a:prstGeom>
          <a:solidFill>
            <a:srgbClr val="11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9A9EB8"/>
                </a:solidFill>
                <a:latin typeface="Microsoft YaHei"/>
              </a:rPr>
              <a:t>无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10527" y="4187952"/>
            <a:ext cx="2103120" cy="457200"/>
          </a:xfrm>
          <a:prstGeom prst="roundRect">
            <a:avLst/>
          </a:prstGeom>
          <a:solidFill>
            <a:srgbClr val="11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9A9EB8"/>
                </a:solidFill>
                <a:latin typeface="Microsoft YaHei"/>
              </a:rPr>
              <a:t>随机前沿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50224" y="4187952"/>
            <a:ext cx="3291840" cy="457200"/>
          </a:xfrm>
          <a:prstGeom prst="roundRect">
            <a:avLst/>
          </a:prstGeom>
          <a:solidFill>
            <a:srgbClr val="0A2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6D6A0"/>
                </a:solidFill>
                <a:latin typeface="Microsoft YaHei"/>
              </a:rPr>
              <a:t>TSG信息增益+LLM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4672584"/>
            <a:ext cx="1828800" cy="457200"/>
          </a:xfrm>
          <a:prstGeom prst="roundRect">
            <a:avLst/>
          </a:prstGeom>
          <a:solidFill>
            <a:srgbClr val="11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D66B"/>
                </a:solidFill>
                <a:latin typeface="Microsoft YaHei"/>
              </a:rPr>
              <a:t>多步指令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231136" y="4672584"/>
            <a:ext cx="2103120" cy="457200"/>
          </a:xfrm>
          <a:prstGeom prst="roundRect">
            <a:avLst/>
          </a:prstGeom>
          <a:solidFill>
            <a:srgbClr val="11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9A9EB8"/>
                </a:solidFill>
                <a:latin typeface="Microsoft YaHei"/>
              </a:rPr>
              <a:t>不支持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70831" y="4672584"/>
            <a:ext cx="2103120" cy="457200"/>
          </a:xfrm>
          <a:prstGeom prst="roundRect">
            <a:avLst/>
          </a:prstGeom>
          <a:solidFill>
            <a:srgbClr val="11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9A9EB8"/>
                </a:solidFill>
                <a:latin typeface="Microsoft YaHei"/>
              </a:rPr>
              <a:t>单步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10527" y="4672584"/>
            <a:ext cx="2103120" cy="457200"/>
          </a:xfrm>
          <a:prstGeom prst="roundRect">
            <a:avLst/>
          </a:prstGeom>
          <a:solidFill>
            <a:srgbClr val="11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9A9EB8"/>
                </a:solidFill>
                <a:latin typeface="Microsoft YaHei"/>
              </a:rPr>
              <a:t>不支持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650224" y="4672584"/>
            <a:ext cx="3291840" cy="457200"/>
          </a:xfrm>
          <a:prstGeom prst="roundRect">
            <a:avLst/>
          </a:prstGeom>
          <a:solidFill>
            <a:srgbClr val="0A2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6D6A0"/>
                </a:solidFill>
                <a:latin typeface="Microsoft YaHei"/>
              </a:rPr>
              <a:t>支持 (任务分解)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5760" y="5157216"/>
            <a:ext cx="1828800" cy="457200"/>
          </a:xfrm>
          <a:prstGeom prst="roundRect">
            <a:avLst/>
          </a:prstGeom>
          <a:solidFill>
            <a:srgbClr val="11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D66B"/>
                </a:solidFill>
                <a:latin typeface="Microsoft YaHei"/>
              </a:rPr>
              <a:t>跨语言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231136" y="5157216"/>
            <a:ext cx="2103120" cy="457200"/>
          </a:xfrm>
          <a:prstGeom prst="roundRect">
            <a:avLst/>
          </a:prstGeom>
          <a:solidFill>
            <a:srgbClr val="11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9A9EB8"/>
                </a:solidFill>
                <a:latin typeface="Microsoft YaHei"/>
              </a:rPr>
              <a:t>未报告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70831" y="5157216"/>
            <a:ext cx="2103120" cy="457200"/>
          </a:xfrm>
          <a:prstGeom prst="roundRect">
            <a:avLst/>
          </a:prstGeom>
          <a:solidFill>
            <a:srgbClr val="11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9A9EB8"/>
                </a:solidFill>
                <a:latin typeface="Microsoft YaHei"/>
              </a:rPr>
              <a:t>未报告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10527" y="5157216"/>
            <a:ext cx="2103120" cy="457200"/>
          </a:xfrm>
          <a:prstGeom prst="roundRect">
            <a:avLst/>
          </a:prstGeom>
          <a:solidFill>
            <a:srgbClr val="11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9A9EB8"/>
                </a:solidFill>
                <a:latin typeface="Microsoft YaHei"/>
              </a:rPr>
              <a:t>不支持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650224" y="5157216"/>
            <a:ext cx="3291840" cy="457200"/>
          </a:xfrm>
          <a:prstGeom prst="roundRect">
            <a:avLst/>
          </a:prstGeom>
          <a:solidFill>
            <a:srgbClr val="0A2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6D6A0"/>
                </a:solidFill>
                <a:latin typeface="Microsoft YaHei"/>
              </a:rPr>
              <a:t>中英100%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65760" y="5641848"/>
            <a:ext cx="1828800" cy="457200"/>
          </a:xfrm>
          <a:prstGeom prst="roundRect">
            <a:avLst/>
          </a:prstGeom>
          <a:solidFill>
            <a:srgbClr val="11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D66B"/>
                </a:solidFill>
                <a:latin typeface="Microsoft YaHei"/>
              </a:rPr>
              <a:t>硬件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231136" y="5641848"/>
            <a:ext cx="2103120" cy="457200"/>
          </a:xfrm>
          <a:prstGeom prst="roundRect">
            <a:avLst/>
          </a:prstGeom>
          <a:solidFill>
            <a:srgbClr val="11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9A9EB8"/>
                </a:solidFill>
                <a:latin typeface="Microsoft YaHei"/>
              </a:rPr>
              <a:t>仿真90cm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370831" y="5641848"/>
            <a:ext cx="2103120" cy="457200"/>
          </a:xfrm>
          <a:prstGeom prst="roundRect">
            <a:avLst/>
          </a:prstGeom>
          <a:solidFill>
            <a:srgbClr val="11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9A9EB8"/>
                </a:solidFill>
                <a:latin typeface="Microsoft YaHei"/>
              </a:rPr>
              <a:t>桌面GPU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510527" y="5641848"/>
            <a:ext cx="2103120" cy="457200"/>
          </a:xfrm>
          <a:prstGeom prst="roundRect">
            <a:avLst/>
          </a:prstGeom>
          <a:solidFill>
            <a:srgbClr val="11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9A9EB8"/>
                </a:solidFill>
                <a:latin typeface="Microsoft YaHei"/>
              </a:rPr>
              <a:t>桌面GPU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650224" y="5641848"/>
            <a:ext cx="3291840" cy="457200"/>
          </a:xfrm>
          <a:prstGeom prst="roundRect">
            <a:avLst/>
          </a:prstGeom>
          <a:solidFill>
            <a:srgbClr val="0A2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6D6A0"/>
                </a:solidFill>
                <a:latin typeface="Microsoft YaHei"/>
              </a:rPr>
              <a:t>Jetson 30cm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65760" y="6126480"/>
            <a:ext cx="1828800" cy="457200"/>
          </a:xfrm>
          <a:prstGeom prst="roundRect">
            <a:avLst/>
          </a:prstGeom>
          <a:solidFill>
            <a:srgbClr val="11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D66B"/>
                </a:solidFill>
                <a:latin typeface="Microsoft YaHei"/>
              </a:rPr>
              <a:t>开放性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231136" y="6126480"/>
            <a:ext cx="2103120" cy="457200"/>
          </a:xfrm>
          <a:prstGeom prst="roundRect">
            <a:avLst/>
          </a:prstGeom>
          <a:solidFill>
            <a:srgbClr val="11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9A9EB8"/>
                </a:solidFill>
                <a:latin typeface="Microsoft YaHei"/>
              </a:rPr>
              <a:t>闭源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370831" y="6126480"/>
            <a:ext cx="2103120" cy="457200"/>
          </a:xfrm>
          <a:prstGeom prst="roundRect">
            <a:avLst/>
          </a:prstGeom>
          <a:solidFill>
            <a:srgbClr val="11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9A9EB8"/>
                </a:solidFill>
                <a:latin typeface="Microsoft YaHei"/>
              </a:rPr>
              <a:t>闭源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510527" y="6126480"/>
            <a:ext cx="2103120" cy="457200"/>
          </a:xfrm>
          <a:prstGeom prst="roundRect">
            <a:avLst/>
          </a:prstGeom>
          <a:solidFill>
            <a:srgbClr val="11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9A9EB8"/>
                </a:solidFill>
                <a:latin typeface="Microsoft YaHei"/>
              </a:rPr>
              <a:t>开源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650224" y="6126480"/>
            <a:ext cx="3291840" cy="457200"/>
          </a:xfrm>
          <a:prstGeom prst="roundRect">
            <a:avLst/>
          </a:prstGeom>
          <a:solidFill>
            <a:srgbClr val="0A2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6D6A0"/>
                </a:solidFill>
                <a:latin typeface="Microsoft YaHei"/>
              </a:rPr>
              <a:t>全栈自研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Segoe UI"/>
              </a:rPr>
              <a:t>13</a:t>
            </a:r>
          </a:p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  核心技术壁垒</a:t>
            </a:r>
            <a:r>
              <a:rPr sz="1600">
                <a:solidFill>
                  <a:srgbClr val="6B708D"/>
                </a:solidFill>
                <a:latin typeface="Segoe UI"/>
              </a:rPr>
              <a:t>  Technical Moat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17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03520" cy="137160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00B4D8"/>
                </a:solidFill>
                <a:latin typeface="Microsoft YaHei"/>
              </a:rPr>
              <a:t> 壁垒1: 全栈自研, 端到端闭环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从传感器 → 感知 → 场景图 → 推理 → 规划 → 控制 全链自研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17个ROS2 Package + 44个gRPC RPC + Flutter多平台App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竞品通常只做其中一环 (感知 or 规划), 无法闭环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303520" cy="137160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06D6A0"/>
                </a:solidFill>
                <a:latin typeface="Microsoft YaHei"/>
              </a:rPr>
              <a:t> 壁垒2: 快慢架构, LLM成本降75%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Fast Path &lt;5ms 处理75%+查询, 无LLM成本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竞品 (SG-Nav) 每步都调LLM → 延迟高、成本高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我们的Fast Path效果等价于LLM, 但成本为零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017520"/>
            <a:ext cx="5303520" cy="137160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FFA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FFA62B"/>
                </a:solidFill>
                <a:latin typeface="Microsoft YaHei"/>
              </a:rPr>
              <a:t> 壁垒3: 概率信念, 不确定性建模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业界首个将Beta+Gaussian信念引入机器人场景图导航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VoI调度 → 自适应计算分配, 77%零开销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多假设贝叶斯规划 → 1.6次vs3.0次找到目标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3017520"/>
            <a:ext cx="5303520" cy="137160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A7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A77BFF"/>
                </a:solidFill>
                <a:latin typeface="Microsoft YaHei"/>
              </a:rPr>
              <a:t> 壁垒4: 拓扑语义探索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融合论文创新: TopoNav + L3MVN + Hydra + TACS-Graphs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信息增益算法 ~1ms, 替代LLM探索 (节省2-5s/步)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穿越记忆避免重复探索, 提升效率90%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663440"/>
            <a:ext cx="5303520" cy="137160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EF476F"/>
                </a:solidFill>
                <a:latin typeface="Microsoft YaHei"/>
              </a:rPr>
              <a:t> 壁垒5: 边缘部署, 真机验证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Jetson Orin NX 16GB, 非桌面GPU仿真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四足30cm低视角 → 独特技术挑战 (模糊过滤等)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全链已在Go2上验证, 非纸上谈兵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663440"/>
            <a:ext cx="5303520" cy="137160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FFD6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FFD66B"/>
                </a:solidFill>
                <a:latin typeface="Microsoft YaHei"/>
              </a:rPr>
              <a:t> 壁垒6: 多LLM + 跨语言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支持4种LLM后端 (OpenAI/Claude/Qwen/Kimi)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中英文指令100%准确, 实测验证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Prompt工程: 层次化CoT, 可复现可调优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Segoe UI"/>
              </a:rPr>
              <a:t>14</a:t>
            </a:r>
          </a:p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  应用场景</a:t>
            </a:r>
            <a:r>
              <a:rPr sz="1600">
                <a:solidFill>
                  <a:srgbClr val="6B708D"/>
                </a:solidFill>
                <a:latin typeface="Segoe UI"/>
              </a:rPr>
              <a:t>  Use Cases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17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03520" cy="201168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1">
                <a:solidFill>
                  <a:srgbClr val="00B4D8"/>
                </a:solidFill>
                <a:latin typeface="Microsoft YaHei"/>
              </a:rPr>
              <a:t> 智能巡检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FFD66B"/>
                </a:solidFill>
                <a:latin typeface="Microsoft YaHei"/>
              </a:rPr>
              <a:t>  工厂 / 仓库 / 数据中心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"去检查3号机房的服务器状态"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自主导航 + 物体识别 + 异常检测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无需预设路线, 语音即下达巡检任务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夜间/危险区域无人值守巡检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48CAE4"/>
                </a:solidFill>
                <a:latin typeface="Microsoft YaHei"/>
              </a:rPr>
              <a:t>  规模: $180亿/年 (工业巡检)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303520" cy="201168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1">
                <a:solidFill>
                  <a:srgbClr val="06D6A0"/>
                </a:solidFill>
                <a:latin typeface="Microsoft YaHei"/>
              </a:rPr>
              <a:t> 服务机器人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FFD66B"/>
                </a:solidFill>
                <a:latin typeface="Microsoft YaHei"/>
              </a:rPr>
              <a:t>  酒店 / 医院 / 商场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"把这瓶水送到3楼走廊尽头的护士站"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理解空间语言, 多步任务分解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动态环境适应 (人员走动)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中英文指令, 服务国际客户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48CAE4"/>
                </a:solidFill>
                <a:latin typeface="Microsoft YaHei"/>
              </a:rPr>
              <a:t>  规模: $120亿/年 (服务机器人)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657600"/>
            <a:ext cx="5303520" cy="201168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FFA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1">
                <a:solidFill>
                  <a:srgbClr val="FFA62B"/>
                </a:solidFill>
                <a:latin typeface="Microsoft YaHei"/>
              </a:rPr>
              <a:t> 搜救 &amp; 安防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FFD66B"/>
                </a:solidFill>
                <a:latin typeface="Microsoft YaHei"/>
              </a:rPr>
              <a:t>  灾后搜索 / 建筑安检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"搜索这栋楼里所有灭火器的位置"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未知环境自主探索 (无预建地图)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拓扑语义图 → 系统化搜索策略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四足全地形 → 楼梯/废墟/狭窄空间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48CAE4"/>
                </a:solidFill>
                <a:latin typeface="Microsoft YaHei"/>
              </a:rPr>
              <a:t>  规模: $35亿/年 (安防机器人)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3657600"/>
            <a:ext cx="5303520" cy="201168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A7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1">
                <a:solidFill>
                  <a:srgbClr val="A77BFF"/>
                </a:solidFill>
                <a:latin typeface="Microsoft YaHei"/>
              </a:rPr>
              <a:t> 家庭陪伴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FFD66B"/>
                </a:solidFill>
                <a:latin typeface="Microsoft YaHei"/>
              </a:rPr>
              <a:t>  智能家居 / 养老看护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"帮我找到客厅沙发上的遥控器"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自然语言交互, 老人友好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记忆式导航 → 学习家庭布局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跌倒检测 + 紧急呼叫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48CAE4"/>
                </a:solidFill>
                <a:latin typeface="Microsoft YaHei"/>
              </a:rPr>
              <a:t>  规模: $85亿/年 (家庭机器人)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Segoe UI"/>
              </a:rPr>
              <a:t>15</a:t>
            </a:r>
          </a:p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  商业模式</a:t>
            </a:r>
            <a:r>
              <a:rPr sz="1600">
                <a:solidFill>
                  <a:srgbClr val="6B708D"/>
                </a:solidFill>
                <a:latin typeface="Segoe UI"/>
              </a:rPr>
              <a:t>  Business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17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566160" cy="320040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1">
                <a:solidFill>
                  <a:srgbClr val="00B4D8"/>
                </a:solidFill>
                <a:latin typeface="Microsoft YaHei"/>
              </a:rPr>
              <a:t> SDK 授权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NaviMind Navigation SDK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11162B"/>
                </a:solidFill>
                <a:latin typeface="Microsoft YaHei"/>
              </a:rPr>
              <a:t>  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目标客户: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  机器人整机厂商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  系统集成商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11162B"/>
                </a:solidFill>
                <a:latin typeface="Microsoft YaHei"/>
              </a:rPr>
              <a:t>  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定价模型: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  按机器人台数授权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  基础版: $200/台/年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  企业版: $500/台/年 (含LLM)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11162B"/>
                </a:solidFill>
                <a:latin typeface="Microsoft YaHei"/>
              </a:rPr>
              <a:t>  </a:t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FFD66B"/>
                </a:solidFill>
                <a:latin typeface="Microsoft YaHei"/>
              </a:rPr>
              <a:t>  预估: 1万台 x $300 = $300万/年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371600"/>
            <a:ext cx="3566160" cy="320040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1">
                <a:solidFill>
                  <a:srgbClr val="06D6A0"/>
                </a:solidFill>
                <a:latin typeface="Microsoft YaHei"/>
              </a:rPr>
              <a:t> SaaS 云平台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NaviMind Cloud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11162B"/>
                </a:solidFill>
                <a:latin typeface="Microsoft YaHei"/>
              </a:rPr>
              <a:t>  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服务内容: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  LLM推理API (快慢路径)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  场景图云端存储 &amp; 分析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  远程监控 &amp; OTA更新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11162B"/>
                </a:solidFill>
                <a:latin typeface="Microsoft YaHei"/>
              </a:rPr>
              <a:t>  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定价模型: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  按API调用量 + 月订阅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  $99/月基础 + $0.01/LLM调用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11162B"/>
                </a:solidFill>
                <a:latin typeface="Microsoft YaHei"/>
              </a:rPr>
              <a:t>  </a:t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FFD66B"/>
                </a:solidFill>
                <a:latin typeface="Microsoft YaHei"/>
              </a:rPr>
              <a:t>  预估: 500企业 x $200/月 = $120万/年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371600"/>
            <a:ext cx="3566160" cy="320040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FFA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1">
                <a:solidFill>
                  <a:srgbClr val="FFA62B"/>
                </a:solidFill>
                <a:latin typeface="Microsoft YaHei"/>
              </a:rPr>
              <a:t> 解决方案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行业定制方案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11162B"/>
                </a:solidFill>
                <a:latin typeface="Microsoft YaHei"/>
              </a:rPr>
              <a:t>  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目标行业: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  工业巡检 (工厂/电力)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  医院物流 (送药/送餐)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  仓储管理 (库存盘点)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11162B"/>
                </a:solidFill>
                <a:latin typeface="Microsoft YaHei"/>
              </a:rPr>
              <a:t>  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交付模式: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  硬件+软件+部署+运维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  年度服务合同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11162B"/>
                </a:solidFill>
                <a:latin typeface="Microsoft YaHei"/>
              </a:rPr>
              <a:t>  </a:t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FFD66B"/>
                </a:solidFill>
                <a:latin typeface="Microsoft YaHei"/>
              </a:rPr>
              <a:t>  预估: 20项目 x $30万 = $600万/年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846320"/>
            <a:ext cx="11064240" cy="164592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FFD6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1">
                <a:solidFill>
                  <a:srgbClr val="FFD66B"/>
                </a:solidFill>
                <a:latin typeface="Microsoft YaHei"/>
              </a:rPr>
              <a:t>  收入预估</a:t>
            </a:r>
          </a:p>
          <a:p>
            <a:pPr algn="l">
              <a:spcBef>
                <a:spcPts val="600"/>
              </a:spcBef>
            </a:pPr>
            <a:r>
              <a:rPr sz="1300" b="1">
                <a:solidFill>
                  <a:srgbClr val="9A9EB8"/>
                </a:solidFill>
                <a:latin typeface="Microsoft YaHei"/>
              </a:rPr>
              <a:t>  Year 1 (2026): SDK 10台试用 + 3个定制项目 = $100万</a:t>
            </a:r>
          </a:p>
          <a:p>
            <a:pPr algn="l">
              <a:spcBef>
                <a:spcPts val="600"/>
              </a:spcBef>
            </a:pPr>
            <a:r>
              <a:rPr sz="1300" b="1">
                <a:solidFill>
                  <a:srgbClr val="48CAE4"/>
                </a:solidFill>
                <a:latin typeface="Microsoft YaHei"/>
              </a:rPr>
              <a:t>  Year 2 (2027): SDK 500台 + SaaS 100企业 + 10项目 = $500万</a:t>
            </a:r>
          </a:p>
          <a:p>
            <a:pPr algn="l">
              <a:spcBef>
                <a:spcPts val="600"/>
              </a:spcBef>
            </a:pPr>
            <a:r>
              <a:rPr sz="1300" b="1">
                <a:solidFill>
                  <a:srgbClr val="06D6A0"/>
                </a:solidFill>
                <a:latin typeface="Microsoft YaHei"/>
              </a:rPr>
              <a:t>  Year 3 (2028): SDK 5000台 + SaaS 500企业 + 20项目 = $1500万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Segoe UI"/>
              </a:rPr>
              <a:t>16</a:t>
            </a:r>
          </a:p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  产品路线图</a:t>
            </a:r>
            <a:r>
              <a:rPr sz="1600">
                <a:solidFill>
                  <a:srgbClr val="6B708D"/>
                </a:solidFill>
                <a:latin typeface="Segoe UI"/>
              </a:rPr>
              <a:t>  Product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17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697480" cy="274320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00" b="1">
                <a:solidFill>
                  <a:srgbClr val="6B708D"/>
                </a:solidFill>
                <a:latin typeface="Microsoft YaHei"/>
              </a:rPr>
              <a:t> Q1-Q2 2026</a:t>
            </a:r>
          </a:p>
          <a:p>
            <a:pPr algn="l">
              <a:spcBef>
                <a:spcPts val="200"/>
              </a:spcBef>
            </a:pPr>
            <a:r>
              <a:rPr sz="1800" b="1">
                <a:solidFill>
                  <a:srgbClr val="00B4D8"/>
                </a:solidFill>
                <a:latin typeface="Microsoft YaHei"/>
              </a:rPr>
              <a:t> 技术验证</a:t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FFD66B"/>
                </a:solidFill>
                <a:latin typeface="Microsoft YaHei"/>
              </a:rPr>
              <a:t> [当前阶段]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真机实验: Go2 办公环境 L1-L3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消融实验: 各模块贡献量化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论文投稿: 顶会 (IROS/CoRL)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SDK v0.1: 基础导航功能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40" y="1371600"/>
            <a:ext cx="2697480" cy="274320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00" b="1">
                <a:solidFill>
                  <a:srgbClr val="6B708D"/>
                </a:solidFill>
                <a:latin typeface="Microsoft YaHei"/>
              </a:rPr>
              <a:t> Q3-Q4 2026</a:t>
            </a:r>
          </a:p>
          <a:p>
            <a:pPr algn="l">
              <a:spcBef>
                <a:spcPts val="200"/>
              </a:spcBef>
            </a:pPr>
            <a:r>
              <a:rPr sz="1800" b="1">
                <a:solidFill>
                  <a:srgbClr val="06D6A0"/>
                </a:solidFill>
                <a:latin typeface="Microsoft YaHei"/>
              </a:rPr>
              <a:t> 产品化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SDK v1.0: 工业级稳定性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多楼层: TSG跨楼层导航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端侧LLM: 4-bit量化部署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云平台: 远程监控 + OTA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3家种子客户试用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371600"/>
            <a:ext cx="2697480" cy="274320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FFA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00" b="1">
                <a:solidFill>
                  <a:srgbClr val="6B708D"/>
                </a:solidFill>
                <a:latin typeface="Microsoft YaHei"/>
              </a:rPr>
              <a:t> 2027 H1</a:t>
            </a:r>
          </a:p>
          <a:p>
            <a:pPr algn="l">
              <a:spcBef>
                <a:spcPts val="200"/>
              </a:spcBef>
            </a:pPr>
            <a:r>
              <a:rPr sz="1800" b="1">
                <a:solidFill>
                  <a:srgbClr val="FFA62B"/>
                </a:solidFill>
                <a:latin typeface="Microsoft YaHei"/>
              </a:rPr>
              <a:t> 市场拓展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SDK v2.0: 多机器人协同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行业方案: 工业巡检/医院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动态场景: 人员/物体移动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多模态: 语音 + 手势控制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50家付费客户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64040" y="1371600"/>
            <a:ext cx="2697480" cy="274320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A7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00" b="1">
                <a:solidFill>
                  <a:srgbClr val="6B708D"/>
                </a:solidFill>
                <a:latin typeface="Microsoft YaHei"/>
              </a:rPr>
              <a:t> 2027 H2+</a:t>
            </a:r>
          </a:p>
          <a:p>
            <a:pPr algn="l">
              <a:spcBef>
                <a:spcPts val="200"/>
              </a:spcBef>
            </a:pPr>
            <a:r>
              <a:rPr sz="1800" b="1">
                <a:solidFill>
                  <a:srgbClr val="A77BFF"/>
                </a:solidFill>
                <a:latin typeface="Microsoft YaHei"/>
              </a:rPr>
              <a:t> 规模化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SDK v3.0: 室外环境扩展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自学习: 环境适应 + 持续优化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生态: 第三方开发者平台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国际化: 多语言 + 海外市场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500+付费客户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389120"/>
            <a:ext cx="11064240" cy="210312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FFD6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1">
                <a:solidFill>
                  <a:srgbClr val="FFD66B"/>
                </a:solidFill>
                <a:latin typeface="Microsoft YaHei"/>
              </a:rPr>
              <a:t>  已完成的技术里程碑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在线层次场景图 (BA-HSG): 4层结构, YOLO-World + CLIP, 质量感知融合, 拓扑连通边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快慢双路径推理: Fast Path &lt;5ms 100%英文 | Slow Path LLM CoT 100%跨语言 | 4种LLM后端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信念感知 + VoI调度: Beta/Gaussian概率建模 | 图扩散 | VoI自适应 (77% continue) | 多假设1.6次收敛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拓扑语义探索 (TSG): 信息增益Algorithm 2 | Dijkstra路径 | 穿越记忆 | 双层策略 | 33测试全通过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9A9EB8"/>
                </a:solidFill>
                <a:latin typeface="Microsoft YaHei"/>
              </a:rPr>
              <a:t>  全栈集成: 17 ROS2 Packages | 44 gRPC RPCs | Flutter多平台App | 99单元测试 | Kimi-k2.5验证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Segoe UI"/>
              </a:rPr>
              <a:t>17</a:t>
            </a:r>
          </a:p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  融资计划</a:t>
            </a:r>
            <a:r>
              <a:rPr sz="1600">
                <a:solidFill>
                  <a:srgbClr val="6B708D"/>
                </a:solidFill>
                <a:latin typeface="Segoe UI"/>
              </a:rPr>
              <a:t>  Funding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17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64240" cy="1097280"/>
          </a:xfrm>
          <a:prstGeom prst="roundRect">
            <a:avLst/>
          </a:prstGeom>
          <a:solidFill>
            <a:srgbClr val="1A203C"/>
          </a:solidFill>
          <a:ln w="15240">
            <a:solidFill>
              <a:srgbClr val="FFD6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>
                <a:solidFill>
                  <a:srgbClr val="FFD66B"/>
                </a:solidFill>
                <a:latin typeface="Microsoft YaHei"/>
              </a:rPr>
              <a:t>  天使轮融资: $100-200万</a:t>
            </a:r>
          </a:p>
          <a:p>
            <a:pPr algn="ctr">
              <a:spcBef>
                <a:spcPts val="600"/>
              </a:spcBef>
            </a:pPr>
            <a:r>
              <a:rPr sz="1500" b="0">
                <a:solidFill>
                  <a:srgbClr val="FFFFFF"/>
                </a:solidFill>
                <a:latin typeface="Microsoft YaHei"/>
              </a:rPr>
              <a:t>  出让股权: 10-15%  |  预估估值: $1000-1500万  |  用途: 产品化 + 真机验证 + 市场拓展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43200"/>
            <a:ext cx="3566160" cy="210312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1">
                <a:solidFill>
                  <a:srgbClr val="00B4D8"/>
                </a:solidFill>
                <a:latin typeface="Microsoft YaHei"/>
              </a:rPr>
              <a:t> 研发 (60%)</a:t>
            </a:r>
          </a:p>
          <a:p>
            <a:pPr algn="l">
              <a:spcBef>
                <a:spcPts val="400"/>
              </a:spcBef>
            </a:pPr>
            <a:r>
              <a:rPr sz="2000" b="1">
                <a:solidFill>
                  <a:srgbClr val="FFD66B"/>
                </a:solidFill>
                <a:latin typeface="Microsoft YaHei"/>
              </a:rPr>
              <a:t> $60-120万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真机实验: Go2采购+实验环境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工程师: 2名全栈 + 1名算法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GPU服务器: 训练 + 测试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LLM API: 端侧部署研发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743200"/>
            <a:ext cx="3566160" cy="210312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1">
                <a:solidFill>
                  <a:srgbClr val="06D6A0"/>
                </a:solidFill>
                <a:latin typeface="Microsoft YaHei"/>
              </a:rPr>
              <a:t> 产品化 (25%)</a:t>
            </a:r>
          </a:p>
          <a:p>
            <a:pPr algn="l">
              <a:spcBef>
                <a:spcPts val="400"/>
              </a:spcBef>
            </a:pPr>
            <a:r>
              <a:rPr sz="2000" b="1">
                <a:solidFill>
                  <a:srgbClr val="FFD66B"/>
                </a:solidFill>
                <a:latin typeface="Microsoft YaHei"/>
              </a:rPr>
              <a:t> $25-50万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SDK封装: 工业级接口+文档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云平台: 远程管理SaaS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QA: 自动化测试 + CI/CD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认证: 安全合规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2743200"/>
            <a:ext cx="3566160" cy="210312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FFA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1">
                <a:solidFill>
                  <a:srgbClr val="FFA62B"/>
                </a:solidFill>
                <a:latin typeface="Microsoft YaHei"/>
              </a:rPr>
              <a:t> 市场 (15%)</a:t>
            </a:r>
          </a:p>
          <a:p>
            <a:pPr algn="l">
              <a:spcBef>
                <a:spcPts val="400"/>
              </a:spcBef>
            </a:pPr>
            <a:r>
              <a:rPr sz="2000" b="1">
                <a:solidFill>
                  <a:srgbClr val="FFD66B"/>
                </a:solidFill>
                <a:latin typeface="Microsoft YaHei"/>
              </a:rPr>
              <a:t> $15-30万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种子客户: 3-5家免费试用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行业展会: IROS, CES, WRC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品牌: 官网 + 技术博客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9A9EB8"/>
                </a:solidFill>
                <a:latin typeface="Microsoft YaHei"/>
              </a:rPr>
              <a:t>  BD: 渠道合作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120640"/>
            <a:ext cx="11064240" cy="137160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A7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1">
                <a:solidFill>
                  <a:srgbClr val="A77BFF"/>
                </a:solidFill>
                <a:latin typeface="Microsoft YaHei"/>
              </a:rPr>
              <a:t>  18个月关键KPI</a:t>
            </a:r>
          </a:p>
          <a:p>
            <a:pPr algn="l">
              <a:spcBef>
                <a:spcPts val="500"/>
              </a:spcBef>
            </a:pPr>
            <a:r>
              <a:rPr sz="1300" b="0">
                <a:solidFill>
                  <a:srgbClr val="FFFFFF"/>
                </a:solidFill>
                <a:latin typeface="Microsoft YaHei"/>
              </a:rPr>
              <a:t>  6个月: 论文发表 (顶会) + SDK v1.0 + 3家种子客户</a:t>
            </a:r>
          </a:p>
          <a:p>
            <a:pPr algn="l">
              <a:spcBef>
                <a:spcPts val="500"/>
              </a:spcBef>
            </a:pPr>
            <a:r>
              <a:rPr sz="1300" b="0">
                <a:solidFill>
                  <a:srgbClr val="FFFFFF"/>
                </a:solidFill>
                <a:latin typeface="Microsoft YaHei"/>
              </a:rPr>
              <a:t>  12个月: SDK v2.0 + 云平台上线 + 10家付费客户 + $50万ARR</a:t>
            </a:r>
          </a:p>
          <a:p>
            <a:pPr algn="l">
              <a:spcBef>
                <a:spcPts val="500"/>
              </a:spcBef>
            </a:pPr>
            <a:r>
              <a:rPr sz="1300" b="0">
                <a:solidFill>
                  <a:srgbClr val="FFFFFF"/>
                </a:solidFill>
                <a:latin typeface="Microsoft YaHei"/>
              </a:rPr>
              <a:t>  18个月: SDK v3.0 + 行业方案 + 50家客户 + $200万ARR → A轮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Segoe UI"/>
              </a:rPr>
              <a:t>18</a:t>
            </a:r>
          </a:p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  学术创新总结</a:t>
            </a:r>
            <a:r>
              <a:rPr sz="1600">
                <a:solidFill>
                  <a:srgbClr val="6B708D"/>
                </a:solidFill>
                <a:latin typeface="Segoe UI"/>
              </a:rPr>
              <a:t>  Research Contributions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17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11064240" cy="82296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00B4D8"/>
                </a:solidFill>
                <a:latin typeface="Microsoft YaHei"/>
              </a:rPr>
              <a:t> 创新1: 在线层次场景图 (BA-HSG)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Microsoft YaHei"/>
              </a:rPr>
              <a:t>    首次将信念感知(Beta+Gaussian)融入4层在线场景图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Microsoft YaHei"/>
              </a:rPr>
              <a:t>    vs ConceptGraphs(离线/无信念) vs SG-Nav(3层/确定性)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67128"/>
            <a:ext cx="11064240" cy="82296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06D6A0"/>
                </a:solidFill>
                <a:latin typeface="Microsoft YaHei"/>
              </a:rPr>
              <a:t> 创新2: 快慢双路径推理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Microsoft YaHei"/>
              </a:rPr>
              <a:t>    借鉴认知科学System1/2, 首次在机器人导航中实现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Microsoft YaHei"/>
              </a:rPr>
              <a:t>    快路径&lt;5ms零LLM vs SG-Nav每步调LLM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054096"/>
            <a:ext cx="11064240" cy="82296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FFA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FFA62B"/>
                </a:solidFill>
                <a:latin typeface="Microsoft YaHei"/>
              </a:rPr>
              <a:t> 创新3: 信念感知规划 + VoI调度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Microsoft YaHei"/>
              </a:rPr>
              <a:t>    业界首个Beta/Gaussian信念 + VoI调度用于场景图导航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Microsoft YaHei"/>
              </a:rPr>
              <a:t>    自适应计算分配(77% continue/23% reperceive)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941063"/>
            <a:ext cx="11064240" cy="82296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FFD6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FFD66B"/>
                </a:solidFill>
                <a:latin typeface="Microsoft YaHei"/>
              </a:rPr>
              <a:t> 创新4: 多假设贝叶斯目标规划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Microsoft YaHei"/>
              </a:rPr>
              <a:t>    期望成本选择 → 1.6次收敛 vs 3.0次随机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Microsoft YaHei"/>
              </a:rPr>
              <a:t>    贝叶斯更新: 到达验证→拒绝→概率重分配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828031"/>
            <a:ext cx="11064240" cy="82296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A7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A77BFF"/>
                </a:solidFill>
                <a:latin typeface="Microsoft YaHei"/>
              </a:rPr>
              <a:t> 创新5: 拓扑语义探索 (TSG)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Microsoft YaHei"/>
              </a:rPr>
              <a:t>    融合TopoNav+L3MVN+Hydra, 首次将拓扑图用于语义探索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Microsoft YaHei"/>
              </a:rPr>
              <a:t>    信息增益~1ms替代LLM探索(2-5s), 穿越记忆避免90%重复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714999"/>
            <a:ext cx="11064240" cy="822960"/>
          </a:xfrm>
          <a:prstGeom prst="roundRect">
            <a:avLst/>
          </a:prstGeom>
          <a:solidFill>
            <a:srgbClr val="11162B"/>
          </a:solidFill>
          <a:ln w="1524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EF476F"/>
                </a:solidFill>
                <a:latin typeface="Microsoft YaHei"/>
              </a:rPr>
              <a:t> 创新6: 边缘部署四足导航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Microsoft YaHei"/>
              </a:rPr>
              <a:t>    首次在30cm低视角四足+Jetson上实现全链语义导航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Microsoft YaHei"/>
              </a:rPr>
              <a:t>    vs 仿真90cm/桌面GPU → 真实世界可部署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600" b="1">
                <a:solidFill>
                  <a:srgbClr val="00B4D8"/>
                </a:solidFill>
                <a:latin typeface="Segoe UI"/>
              </a:rPr>
              <a:t>NaviMind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灵途 — 让机器人拥有认知导航能力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418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D66B"/>
                </a:solidFill>
                <a:latin typeface="Microsoft YaHei"/>
              </a:rPr>
              <a:t>6项核心创新  |  99测试全通过  |  4种LLM验证  |  全栈自研</a:t>
            </a:r>
          </a:p>
          <a:p>
            <a:pPr algn="ctr"/>
            <a:endParaRPr sz="1800" b="1">
              <a:solidFill>
                <a:srgbClr val="FFD66B"/>
              </a:solidFill>
              <a:latin typeface="Microsoft YaHei"/>
            </a:endParaRPr>
          </a:p>
          <a:p>
            <a:pPr algn="ctr">
              <a:spcBef>
                <a:spcPts val="2000"/>
              </a:spcBef>
            </a:pPr>
            <a:r>
              <a:rPr sz="2200" b="0">
                <a:solidFill>
                  <a:srgbClr val="48CAE4"/>
                </a:solidFill>
                <a:latin typeface="Microsoft YaHei"/>
              </a:rPr>
              <a:t>Thank You  /  Questions &amp; Discussion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126480"/>
            <a:ext cx="12188952" cy="731520"/>
          </a:xfrm>
          <a:prstGeom prst="rect">
            <a:avLst/>
          </a:prstGeom>
          <a:solidFill>
            <a:srgbClr val="11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6B708D"/>
                </a:solidFill>
                <a:latin typeface="Microsoft YaHei"/>
              </a:rPr>
              <a:t>Contact: [email]  |  GitHub: [repo]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</TotalTime>
  <Words>4327</Words>
  <Application>Microsoft Office PowerPoint</Application>
  <PresentationFormat>自定义</PresentationFormat>
  <Paragraphs>673</Paragraphs>
  <Slides>20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6" baseType="lpstr">
      <vt:lpstr>等线</vt:lpstr>
      <vt:lpstr>Microsoft YaHei</vt:lpstr>
      <vt:lpstr>Arial</vt:lpstr>
      <vt:lpstr>Calibri</vt:lpstr>
      <vt:lpstr>Segoe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hongsen pang</cp:lastModifiedBy>
  <cp:revision>2</cp:revision>
  <dcterms:created xsi:type="dcterms:W3CDTF">2013-01-27T09:14:16Z</dcterms:created>
  <dcterms:modified xsi:type="dcterms:W3CDTF">2026-02-18T16:13:05Z</dcterms:modified>
  <cp:category/>
</cp:coreProperties>
</file>