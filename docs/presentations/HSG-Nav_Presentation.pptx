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00D2FF"/>
                </a:solidFill>
                <a:latin typeface="Microsoft YaHei"/>
              </a:rPr>
              <a:t>HSG-Nav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基于层次场景图的四足机器人自主导航系统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BBBBCC"/>
                </a:solidFill>
                <a:latin typeface="Microsoft YaHei"/>
              </a:rPr>
              <a:t>Hierarchical Scene Graph Navigation for Quadruped Robots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D700"/>
                </a:solidFill>
                <a:latin typeface="Microsoft YaHei"/>
              </a:rPr>
              <a:t>快慢双路径推理  |  信念感知场景图  |  拓扑语义探索</a:t>
            </a:r>
          </a:p>
          <a:p>
            <a:pPr algn="ctr">
              <a:spcBef>
                <a:spcPts val="1200"/>
              </a:spcBef>
            </a:pPr>
            <a:r>
              <a:rPr sz="1600" b="0">
                <a:solidFill>
                  <a:srgbClr val="BBBBCC"/>
                </a:solidFill>
                <a:latin typeface="Microsoft YaHei"/>
              </a:rPr>
              <a:t>Fast-Slow Dual-Path Reasoning  |  Belief-Aware Scene Graph  |  Topology-Aware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BBBBCC"/>
                </a:solidFill>
                <a:latin typeface="Microsoft YaHei"/>
              </a:rPr>
              <a:t>平台: Unitree Go2 + Jetson Orin NX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D2FF"/>
                </a:solidFill>
                <a:latin typeface="Microsoft YaHei"/>
              </a:rPr>
              <a:t>01  研究背景与动机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00D2FF"/>
                </a:solidFill>
                <a:latin typeface="Microsoft YaHei"/>
              </a:rPr>
              <a:t>  核心问题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  如何让四足机器人在未知室内环境中,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  根据自然语言指令自主导航到目标?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800" b="1">
                <a:solidFill>
                  <a:srgbClr val="FFD700"/>
                </a:solidFill>
                <a:latin typeface="Microsoft YaHei"/>
              </a:rPr>
              <a:t>  "找到走廊里门旁边的灭火器"</a:t>
            </a:r>
          </a:p>
          <a:p>
            <a:pPr algn="l">
              <a:spcBef>
                <a:spcPts val="600"/>
              </a:spcBef>
            </a:pPr>
            <a:r>
              <a:rPr sz="1800" b="1">
                <a:solidFill>
                  <a:srgbClr val="FFD700"/>
                </a:solidFill>
                <a:latin typeface="Microsoft YaHei"/>
              </a:rPr>
              <a:t>  "去厨房拿杯水"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5352" y="1188720"/>
            <a:ext cx="54864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6B6B"/>
                </a:solidFill>
                <a:latin typeface="Microsoft YaHei"/>
              </a:rPr>
              <a:t>  关键挑战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1. 环境未知 — 无先验地图, 需在线建图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2. 语言多样 — 中/英文, 空间关系, 多步指令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3. 低视角 — 四足机器人仅30cm高, 视野受限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4. 边缘计算 — Jetson Orin NX, 无云端GPU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5. 动态环境 — 物体移动、人员走动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11274552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9F43"/>
                </a:solidFill>
                <a:latin typeface="Microsoft YaHei"/>
              </a:rPr>
              <a:t>  现有方法不足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SG-Nav (2024): 每步都调LLM (慢+贵), 仿真环境, 无不确定性建模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FSR-VLN (2025): 依赖预建地图, 静态场景, 无信念推理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CoW / CLIP-Frontier: 无场景图结构, 无层次推理, 扁平匹配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ConceptGraphs (2023): 离线构建, 无实时更新, 无导航规划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D2FF"/>
                </a:solidFill>
                <a:latin typeface="Microsoft YaHei"/>
              </a:rPr>
              <a:t>02  系统架构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19456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00D2FF"/>
                </a:solidFill>
                <a:latin typeface="Microsoft YaHei"/>
              </a:rPr>
              <a:t> 感知模块
Perception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YOLO-World 检测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CLIP 特征编码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运动模糊过滤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实例关联 &amp; 追踪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219456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C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0FCB8A"/>
                </a:solidFill>
                <a:latin typeface="Microsoft YaHei"/>
              </a:rPr>
              <a:t> 场景图构建
Scene Graph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Object → Group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Group → Room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Room → Floor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在线增量更新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371600"/>
            <a:ext cx="219456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D700"/>
                </a:solidFill>
                <a:latin typeface="Microsoft YaHei"/>
              </a:rPr>
              <a:t> 快路径 (Fast)
&lt;5ms 无LLM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标签匹配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检测置信度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空间关系融合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多源评分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371600"/>
            <a:ext cx="219456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9F43"/>
                </a:solidFill>
                <a:latin typeface="Microsoft YaHei"/>
              </a:rPr>
              <a:t> 慢路径 (Slow)
LLM CoT推理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层次化提示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Room→Group→Object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跨语言理解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常识推理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1371600"/>
            <a:ext cx="1828800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6B6B"/>
                </a:solidFill>
                <a:latin typeface="Microsoft YaHei"/>
              </a:rPr>
              <a:t> 执行 &amp; 导航
Nav2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局部路径规划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Pure Pursuit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碰撞避障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到达检测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474720"/>
            <a:ext cx="338328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C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0FCB8A"/>
                </a:solidFill>
                <a:latin typeface="Microsoft YaHei"/>
              </a:rPr>
              <a:t> 信念推理 (BA-HSG)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Beta分布 → 存在概率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Gaussian → 位置不确定性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图扩散 → 邻域传播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复合可信度评分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3474720"/>
            <a:ext cx="384048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D700"/>
                </a:solidFill>
                <a:latin typeface="Microsoft YaHei"/>
              </a:rPr>
              <a:t> VoI 自适应调度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信息价值驱动决策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高置信 → Continue (77%)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低置信 → Reperceive (23%)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避免固定间隔浪费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474720"/>
            <a:ext cx="384048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00D2FF"/>
                </a:solidFill>
                <a:latin typeface="Microsoft YaHei"/>
              </a:rPr>
              <a:t> 拓扑语义探索 (TSG)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房间拓扑图 + 前沿节点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信息增益 = 语义×新颖×不确定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Dijkstra 最短路径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穿越记忆 → 避免重复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5577840"/>
            <a:ext cx="11640312" cy="7315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BBBBCC"/>
                </a:solidFill>
                <a:latin typeface="Microsoft YaHei"/>
              </a:rPr>
              <a:t>  硬件平台: Unitree Go2 四足机器人  |  Livox Mid-360 LiDAR  |  Orbbec Femto RGB-D  |  Jetson Orin NX 16GB  |  Fast-LIO2 SLAM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D2FF"/>
                </a:solidFill>
                <a:latin typeface="Microsoft YaHei"/>
              </a:rPr>
              <a:t>03  创新1: 在线层次场景图 (BA-HSG)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D2FF"/>
                </a:solidFill>
                <a:latin typeface="Microsoft YaHei"/>
              </a:rPr>
              <a:t>  四层层次结构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BBBBCC"/>
                </a:solidFill>
                <a:latin typeface="Microsoft YaHei"/>
              </a:rPr>
              <a:t>  Floor (楼层)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BBBBCC"/>
                </a:solidFill>
                <a:latin typeface="Microsoft YaHei"/>
              </a:rPr>
              <a:t>    全局根节点, 包含所有房间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0FCB8A"/>
                </a:solidFill>
                <a:latin typeface="Microsoft YaHei"/>
              </a:rPr>
              <a:t>  Room  (房间)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BBBBCC"/>
                </a:solidFill>
                <a:latin typeface="Microsoft YaHei"/>
              </a:rPr>
              <a:t>    DBSCAN聚类 + 规则推理命名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BBBBCC"/>
                </a:solidFill>
                <a:latin typeface="Microsoft YaHei"/>
              </a:rPr>
              <a:t>    如: corridor, office, kitchen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FFD700"/>
                </a:solidFill>
                <a:latin typeface="Microsoft YaHei"/>
              </a:rPr>
              <a:t>  Group (物体组)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BBBBCC"/>
                </a:solidFill>
                <a:latin typeface="Microsoft YaHei"/>
              </a:rPr>
              <a:t>    语义聚合 (workstation, safety...)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BBBBCC"/>
                </a:solidFill>
                <a:latin typeface="Microsoft YaHei"/>
              </a:rPr>
              <a:t>    基于物体共现关系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  Object (物体)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BBBBCC"/>
                </a:solidFill>
                <a:latin typeface="Microsoft YaHei"/>
              </a:rPr>
              <a:t>    YOLO-World检测 + CLIP特征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BBBBCC"/>
                </a:solidFill>
                <a:latin typeface="Microsoft YaHei"/>
              </a:rPr>
              <a:t>    3D位置 + 信念状态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5352" y="1188720"/>
            <a:ext cx="5486400" cy="4754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C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FCB8A"/>
                </a:solidFill>
                <a:latin typeface="Microsoft YaHei"/>
              </a:rPr>
              <a:t>  关键技术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FFD700"/>
                </a:solidFill>
                <a:latin typeface="Microsoft YaHei"/>
              </a:rPr>
              <a:t>  质量感知CLIP融合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高置信检测 → 更大学习率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低置信检测 → 保守更新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alpha = base × clamp(score/ref)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FFD700"/>
                </a:solidFill>
                <a:latin typeface="Microsoft YaHei"/>
              </a:rPr>
              <a:t>  运动模糊过滤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四足步态导致图像模糊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Laplacian方差检测 → 丢弃模糊帧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FFD700"/>
                </a:solidFill>
                <a:latin typeface="Microsoft YaHei"/>
              </a:rPr>
              <a:t>  实例关联 &amp; 追踪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3D距离 + CLIP余弦相似度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避免同一物体重复注册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FFD700"/>
                </a:solidFill>
                <a:latin typeface="Microsoft YaHei"/>
              </a:rPr>
              <a:t>  拓扑连通边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房间之间的门/过道/邻近关系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构建可导航空间拓扑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D2FF"/>
                </a:solidFill>
                <a:latin typeface="Microsoft YaHei"/>
              </a:rPr>
              <a:t>04  创新2: 快慢双路径推理 (Fast-Slow)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D700"/>
                </a:solidFill>
                <a:latin typeface="Microsoft YaHei"/>
              </a:rPr>
              <a:t>  Fast Path (快路径)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FCB8A"/>
                </a:solidFill>
                <a:latin typeface="Microsoft YaHei"/>
              </a:rPr>
              <a:t>  延迟: &lt; 5ms  |  无LLM调用  |  纯算法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1. 标签匹配: 指令关键词 → 物体标签 (精确+模糊)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2. 检测置信度: YOLO-World score × 检测次数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3. 空间关系: near/on/left_of 加权评分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4. CLIP相似度: 跨模态语义匹配 (可选)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5. 多源融合: 加权求和 → 置信度 &gt; 0.75 直接输出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BBBBCC"/>
                </a:solidFill>
                <a:latin typeface="Microsoft YaHei"/>
              </a:rPr>
              <a:t>  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覆盖率: 100% 英文 L1/L2 指令  |  ~75% 总体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5352" y="1188720"/>
            <a:ext cx="548640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9F43"/>
                </a:solidFill>
                <a:latin typeface="Microsoft YaHei"/>
              </a:rPr>
              <a:t>  Slow Path (慢路径)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6B6B"/>
                </a:solidFill>
                <a:latin typeface="Microsoft YaHei"/>
              </a:rPr>
              <a:t>  延迟: ~26s  |  LLM (Kimi-k2.5)  |  CoT推理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1. 层次化Prompt: 场景图 → 结构化JSON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2. Chain-of-Thought: Room → Group → Object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3. 跨语言: 中文指令 → 英文标签 (100%准确)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4. 语义推理: "去厨房拿水" → 导航到sink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5. 探索建议: 目标不存在 → 建议搜索方向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BBBBCC"/>
                </a:solidFill>
                <a:latin typeface="Microsoft YaHei"/>
              </a:rPr>
              <a:t>  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覆盖: 中文、复杂空间、多步指令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11274552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0D2FF"/>
                </a:solidFill>
                <a:latin typeface="Microsoft YaHei"/>
              </a:rPr>
              <a:t>  实测 LLM 输出示例 (Kimi-k2.5)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FD700"/>
                </a:solidFill>
                <a:latin typeface="Microsoft YaHei"/>
              </a:rPr>
              <a:t>  "找到走廊里门旁边的灭火器"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   → Room: corridor → Group: safety → Object: fire extinguisher (near door, 1.0m) → conf=0.95  [26s]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FD700"/>
                </a:solidFill>
                <a:latin typeface="Microsoft YaHei"/>
              </a:rPr>
              <a:t>  "find the printer in office B"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   → Fast Path: label=1.0, det=0.87, spatial=0.3 → fused=0.83 → printer (5.5, -2.5)  [1.4ms]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FD700"/>
                </a:solidFill>
                <a:latin typeface="Microsoft YaHei"/>
              </a:rPr>
              <a:t>  "去厨房拿杯水"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BBBBCC"/>
                </a:solidFill>
                <a:latin typeface="Microsoft YaHei"/>
              </a:rPr>
              <a:t>    → Room: kitchen → Group: utility → Object: sink (水槽是获取水的最直接来源) → conf=0.92  [27s]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D2FF"/>
                </a:solidFill>
                <a:latin typeface="Microsoft YaHei"/>
              </a:rPr>
              <a:t>05  创新3: 信念感知场景图 (BA-HSG)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C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FCB8A"/>
                </a:solidFill>
                <a:latin typeface="Microsoft YaHei"/>
              </a:rPr>
              <a:t>  三大信念组件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D700"/>
                </a:solidFill>
                <a:latin typeface="Microsoft YaHei"/>
              </a:rPr>
              <a:t>  Beta分布 → 存在概率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每个物体有 (alpha, beta) 参数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检测 → alpha++; 未检测 → beta++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P_exist = alpha / (alpha + beta)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D700"/>
                </a:solidFill>
                <a:latin typeface="Microsoft YaHei"/>
              </a:rPr>
              <a:t>  Gaussian → 位置不确定度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均值 = 3D位置, 协方差 = sigma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多次观测 → sigma 收缩 → 位置更精确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D700"/>
                </a:solidFill>
                <a:latin typeface="Microsoft YaHei"/>
              </a:rPr>
              <a:t>  图扩散 → 邻域传播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新物体出现在已知物体附近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→ 继承邻居的可信度加成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5352" y="1188720"/>
            <a:ext cx="548640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D700"/>
                </a:solidFill>
                <a:latin typeface="Microsoft YaHei"/>
              </a:rPr>
              <a:t>  VoI 自适应调度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信息价值 (Value of Information) 驱动决策: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D2FF"/>
                </a:solidFill>
                <a:latin typeface="Microsoft YaHei"/>
              </a:rPr>
              <a:t>  Continue (77%)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可信度高, 继续导航, 不浪费算力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D2FF"/>
                </a:solidFill>
                <a:latin typeface="Microsoft YaHei"/>
              </a:rPr>
              <a:t>  Reperceive (23%)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可信度低, 重新感知, 更新场景图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0D2FF"/>
                </a:solidFill>
                <a:latin typeface="Microsoft YaHei"/>
              </a:rPr>
              <a:t>  Slow Reason (罕见)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场景图不足, 调用LLM深度推理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023360"/>
            <a:ext cx="11274552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6B6B"/>
                </a:solidFill>
                <a:latin typeface="Microsoft YaHei"/>
              </a:rPr>
              <a:t>  多假设目标规划 (Multi-Hypothesis)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场景中有多个同类物体 (如3个灭火器) 时: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1. 按后验概率排序候选目标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2. 导航到最高概率候选 → 到达后验证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3. 未确认 → 贝叶斯更新拒绝, 选择下一个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4. 平均 1.6 次尝试找到正确目标 (vs 随机3.0次)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5. 100% 成功率 (20/20 场景)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D2FF"/>
                </a:solidFill>
                <a:latin typeface="Microsoft YaHei"/>
              </a:rPr>
              <a:t>06  创新4: 拓扑语义探索 (TSG)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32004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0D2FF"/>
                </a:solidFill>
                <a:latin typeface="Microsoft YaHei"/>
              </a:rPr>
              <a:t>  拓扑语义图 (TSG)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Room Nodes: 已知房间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→ 类型/访问状态/物体列表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Frontier Nodes: 未探索前沿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→ 位置/方向/预测房间类型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Edges: 房间连通关系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→ 门/过道/邻近/穿越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Traversal Memory: 穿越记录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→ 避免重复探索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188720"/>
            <a:ext cx="3657600" cy="32004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C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FCB8A"/>
                </a:solidFill>
                <a:latin typeface="Microsoft YaHei"/>
              </a:rPr>
              <a:t>  Algorithm 2: IG 探索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FFD700"/>
                </a:solidFill>
                <a:latin typeface="Microsoft YaHei"/>
              </a:rPr>
              <a:t>  IG(n) = S_sem x N x U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S_sem: 语义先验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  咖啡机→kitchen (0.9)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  灭火器→stairwell (0.9)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N: 新颖度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  未访问=1.0, 已访问→衰减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U: 不确定度降低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  前沿 &gt; 稀疏房间 &gt; 密集房间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FFD700"/>
                </a:solidFill>
                <a:latin typeface="Microsoft YaHei"/>
              </a:rPr>
              <a:t>  Score = IG / (1 + 0.3*d_path)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  d_path = Dijkstra 最短路径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188720"/>
            <a:ext cx="3410712" cy="32004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FD700"/>
                </a:solidFill>
                <a:latin typeface="Microsoft YaHei"/>
              </a:rPr>
              <a:t>  双层探索策略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00D2FF"/>
                </a:solidFill>
                <a:latin typeface="Microsoft YaHei"/>
              </a:rPr>
              <a:t>  Layer 1: TSG (~1ms)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纯算法, 无LLM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覆盖 ~70% 场景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信息增益驱动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00D2FF"/>
                </a:solidFill>
                <a:latin typeface="Microsoft YaHei"/>
              </a:rPr>
              <a:t>  Layer 2: LLM (fallback)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复杂/歧义场景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注入拓扑摘要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常识推理增强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00D2FF"/>
                </a:solidFill>
                <a:latin typeface="Microsoft YaHei"/>
              </a:rPr>
              <a:t>  穿越记忆: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去过的房间 IG↓ 90%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LLM 利用负面记忆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663440"/>
            <a:ext cx="11274552" cy="16459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9F43"/>
                </a:solidFill>
                <a:latin typeface="Microsoft YaHei"/>
              </a:rPr>
              <a:t>  TSG vs LLM 实测对比 (Kimi-k2.5)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"找到咖啡机"   TSG: stairwell(0.184) &gt; kitchen(0.176)  |  LLM: kitchen (语义常识更准)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"find fire ext on 2nd floor"   TSG: stairwell(0.414) 大幅领先  |  LLM: stairwell (完全一致!)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  "找到会议室投影仪"   TSG: frontier_10000(0.136) 选未知前沿  |  LLM: 东侧前沿 (一致!)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D2FF"/>
                </a:solidFill>
                <a:latin typeface="Microsoft YaHei"/>
              </a:rPr>
              <a:t>07  实验验证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C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FCB8A"/>
                </a:solidFill>
                <a:latin typeface="Microsoft YaHei"/>
              </a:rPr>
              <a:t>  测试总览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总测试数: 99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通过率: 100% (99/99)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拓扑图测试: 33/33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离线管线测试: 40/40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信念系统测试: 26/26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097280"/>
            <a:ext cx="365760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FD700"/>
                </a:solidFill>
                <a:latin typeface="Microsoft YaHei"/>
              </a:rPr>
              <a:t>  Fast Path 性能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L1 英文命中率: 100% (20/20)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L2 英文命中率: 100% (15/15)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平均延迟: &lt; 5ms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P99 延迟: &lt; 20ms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  LLM调用节省: &gt; 75%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097280"/>
            <a:ext cx="3410712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9F43"/>
                </a:solidFill>
                <a:latin typeface="Microsoft YaHei"/>
              </a:rPr>
              <a:t>  Slow Path (Kimi-k2.5)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端到端通过率: 100% (12/12)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跨语言准确率: 100%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探索准确率: 100%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平均延迟: ~26s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  平均置信度: 0.93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74552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D2FF"/>
                </a:solidFill>
                <a:latin typeface="Microsoft YaHei"/>
              </a:rPr>
              <a:t>  关键发现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1. 快路径 100% 命中英文L1/L2 → 无需LLM, &lt;5ms 完成, 适合实时导航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2. LLM 完美跨语言: "椅子"→chair, "灭火器"→fire extinguisher (100%准确)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3. LLM 语义推理: "去厨房拿水" → 导航到 sink (无cup, 推理出sink是水源)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4. 信念系统: 30帧后 P_exist 从0.6→0.9, 图扩散有效, 过期物体可信度↓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5. 多假设: 平均1.6次找到正确目标 (vs 随机3.0次), 100%成功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6. VoI调度: 77% continue / 23% reperceive, 自适应比固定间隔更高效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7. TSG探索: 穿越记忆使已访问房间IG↓90%, LLM利用拓扑摘要避开已探索方向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D2FF"/>
                </a:solidFill>
                <a:latin typeface="Microsoft YaHei"/>
              </a:rPr>
              <a:t>08  与现有工作对比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286000" cy="457200"/>
          </a:xfrm>
          <a:prstGeom prst="roundRect">
            <a:avLst/>
          </a:prstGeom>
          <a:solidFill>
            <a:srgbClr val="00D2F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Microsoft YaHei"/>
              </a:rPr>
              <a:t> 维度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06039" y="1188720"/>
            <a:ext cx="2926080" cy="457200"/>
          </a:xfrm>
          <a:prstGeom prst="roundRect">
            <a:avLst/>
          </a:prstGeom>
          <a:solidFill>
            <a:srgbClr val="00D2F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Microsoft YaHei"/>
              </a:rPr>
              <a:t> SG-Nav (2024)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188720"/>
            <a:ext cx="2926080" cy="457200"/>
          </a:xfrm>
          <a:prstGeom prst="roundRect">
            <a:avLst/>
          </a:prstGeom>
          <a:solidFill>
            <a:srgbClr val="00D2F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Microsoft YaHei"/>
              </a:rPr>
              <a:t> FSR-VLN (2025)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88720"/>
            <a:ext cx="3566160" cy="457200"/>
          </a:xfrm>
          <a:prstGeom prst="roundRect">
            <a:avLst/>
          </a:prstGeom>
          <a:solidFill>
            <a:srgbClr val="00D2F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2E"/>
                </a:solidFill>
                <a:latin typeface="Microsoft YaHei"/>
              </a:rPr>
              <a:t> HSG-Nav (Ours)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664208"/>
            <a:ext cx="22860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D700"/>
                </a:solidFill>
                <a:latin typeface="Microsoft YaHei"/>
              </a:rPr>
              <a:t> 环境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39" y="1664208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仿真 (MP3D)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64208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预建地图, 静态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664208"/>
            <a:ext cx="3566160" cy="45720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CB8A"/>
                </a:solidFill>
                <a:latin typeface="Microsoft YaHei"/>
              </a:rPr>
              <a:t> 未知, 动态, 在线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139696"/>
            <a:ext cx="22860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D700"/>
                </a:solidFill>
                <a:latin typeface="Microsoft YaHei"/>
              </a:rPr>
              <a:t> 场景图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39" y="2139696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3层, 确定性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139696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4层, 离线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139696"/>
            <a:ext cx="3566160" cy="45720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CB8A"/>
                </a:solidFill>
                <a:latin typeface="Microsoft YaHei"/>
              </a:rPr>
              <a:t> 4层, 在线, 信念感知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615184"/>
            <a:ext cx="22860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D700"/>
                </a:solidFill>
                <a:latin typeface="Microsoft YaHei"/>
              </a:rPr>
              <a:t> 目标解析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39" y="2615184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每步LLM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2615184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CLIP+VLM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2615184"/>
            <a:ext cx="3566160" cy="45720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CB8A"/>
                </a:solidFill>
                <a:latin typeface="Microsoft YaHei"/>
              </a:rPr>
              <a:t> Fast(&lt;5ms) + Slow(LLM)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090672"/>
            <a:ext cx="22860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D700"/>
                </a:solidFill>
                <a:latin typeface="Microsoft YaHei"/>
              </a:rPr>
              <a:t> LLM调用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39" y="3090672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每步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3090672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VLM精筛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3090672"/>
            <a:ext cx="3566160" cy="45720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CB8A"/>
                </a:solidFill>
                <a:latin typeface="Microsoft YaHei"/>
              </a:rPr>
              <a:t> 仅~25%查询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66160"/>
            <a:ext cx="22860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D700"/>
                </a:solidFill>
                <a:latin typeface="Microsoft YaHei"/>
              </a:rPr>
              <a:t> 不确定性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6039" y="3566160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标量可信度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3566160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3566160"/>
            <a:ext cx="3566160" cy="45720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CB8A"/>
                </a:solidFill>
                <a:latin typeface="Microsoft YaHei"/>
              </a:rPr>
              <a:t> Beta+Gaussian+VoI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041648"/>
            <a:ext cx="22860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D700"/>
                </a:solidFill>
                <a:latin typeface="Microsoft YaHei"/>
              </a:rPr>
              <a:t> 探索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39" y="4041648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LLM-only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4041648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4041648"/>
            <a:ext cx="3566160" cy="45720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CB8A"/>
                </a:solidFill>
                <a:latin typeface="Microsoft YaHei"/>
              </a:rPr>
              <a:t> TSG信息增益+LLM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4517136"/>
            <a:ext cx="22860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D700"/>
                </a:solidFill>
                <a:latin typeface="Microsoft YaHei"/>
              </a:rPr>
              <a:t> 多步指令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06039" y="4517136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不支持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4517136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单步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9640" y="4517136"/>
            <a:ext cx="3566160" cy="45720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CB8A"/>
                </a:solidFill>
                <a:latin typeface="Microsoft YaHei"/>
              </a:rPr>
              <a:t> 支持(任务分解)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4992623"/>
            <a:ext cx="22860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D700"/>
                </a:solidFill>
                <a:latin typeface="Microsoft YaHei"/>
              </a:rPr>
              <a:t> 跨语言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6039" y="4992623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未报告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77840" y="4992623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未报告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49640" y="4992623"/>
            <a:ext cx="3566160" cy="45720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CB8A"/>
                </a:solidFill>
                <a:latin typeface="Microsoft YaHei"/>
              </a:rPr>
              <a:t> 100% (中→英)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468111"/>
            <a:ext cx="22860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D700"/>
                </a:solidFill>
                <a:latin typeface="Microsoft YaHei"/>
              </a:rPr>
              <a:t> 平台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06039" y="5468111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仿真 (90cm)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5468111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Go1/G1 (桌面GPU)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49640" y="5468111"/>
            <a:ext cx="3566160" cy="45720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CB8A"/>
                </a:solidFill>
                <a:latin typeface="Microsoft YaHei"/>
              </a:rPr>
              <a:t> Go2 (Jetson, 30cm)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5943599"/>
            <a:ext cx="228600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D700"/>
                </a:solidFill>
                <a:latin typeface="Microsoft YaHei"/>
              </a:rPr>
              <a:t> SR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06039" y="5943599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40-54%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77840" y="5943599"/>
            <a:ext cx="2926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BBCC"/>
                </a:solidFill>
                <a:latin typeface="Microsoft YaHei"/>
              </a:rPr>
              <a:t> 92%(预建图)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49640" y="5943599"/>
            <a:ext cx="3566160" cy="45720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CB8A"/>
                </a:solidFill>
                <a:latin typeface="Microsoft YaHei"/>
              </a:rPr>
              <a:t> 100% (12/12, 离线)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D2FF"/>
                </a:solidFill>
                <a:latin typeface="Microsoft YaHei"/>
              </a:rPr>
              <a:t>09  总结与展望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4114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C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0FCB8A"/>
                </a:solidFill>
                <a:latin typeface="Microsoft YaHei"/>
              </a:rPr>
              <a:t>  核心贡献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D700"/>
                </a:solidFill>
                <a:latin typeface="Microsoft YaHei"/>
              </a:rPr>
              <a:t>  在线层次场景图 (BA-HSG)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4层结构 + 信念感知 + 在线增量更新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D700"/>
                </a:solidFill>
                <a:latin typeface="Microsoft YaHei"/>
              </a:rPr>
              <a:t>  快慢双路径推理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Fast &lt;5ms 覆盖75%+ | Slow LLM 处理复杂指令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D700"/>
                </a:solidFill>
                <a:latin typeface="Microsoft YaHei"/>
              </a:rPr>
              <a:t>  信念推理 &amp; VoI调度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Beta/Gaussian概率建模 + 自适应感知调度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D700"/>
                </a:solidFill>
                <a:latin typeface="Microsoft YaHei"/>
              </a:rPr>
              <a:t>  多假设目标规划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1.6次平均找到目标, 100%成功率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D700"/>
                </a:solidFill>
                <a:latin typeface="Microsoft YaHei"/>
              </a:rPr>
              <a:t>  拓扑语义探索 (TSG)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信息增益 + Dijkstra + 穿越记忆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D700"/>
                </a:solidFill>
                <a:latin typeface="Microsoft YaHei"/>
              </a:rPr>
              <a:t>  跨语言支持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中英文指令100%准确, LLM跨语言推理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5352" y="1188720"/>
            <a:ext cx="5486400" cy="4114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00D2FF"/>
                </a:solidFill>
                <a:latin typeface="Microsoft YaHei"/>
              </a:rPr>
              <a:t>  下一步计划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FCB8A"/>
                </a:solidFill>
                <a:latin typeface="Microsoft YaHei"/>
              </a:rPr>
              <a:t>  真机实验 Phase 1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Go2 + 办公走廊, L1-L3 × 3试次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采集场景图JSON, 导航轨迹, 视频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FCB8A"/>
                </a:solidFill>
                <a:latin typeface="Microsoft YaHei"/>
              </a:rPr>
              <a:t>  消融实验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w/o 场景图 | w/o 层次 | w/o 信念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w/o VoI | w/o 多假设 | w/o 再感知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FCB8A"/>
                </a:solidFill>
                <a:latin typeface="Microsoft YaHei"/>
              </a:rPr>
              <a:t>  多楼层扩展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TSG楼梯间节点 → 跨楼层导航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FCB8A"/>
                </a:solidFill>
                <a:latin typeface="Microsoft YaHei"/>
              </a:rPr>
              <a:t>  动态场景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物体移动检测 + 场景图更新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FCB8A"/>
                </a:solidFill>
                <a:latin typeface="Microsoft YaHei"/>
              </a:rPr>
              <a:t>  端侧LLM部署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量化LLM (4-bit) 部署到Jetson</a:t>
            </a:r>
          </a:p>
          <a:p>
            <a:pPr algn="l">
              <a:spcBef>
                <a:spcPts val="100"/>
              </a:spcBef>
            </a:pPr>
            <a:r>
              <a:rPr sz="1200" b="0">
                <a:solidFill>
                  <a:srgbClr val="BBBBCC"/>
                </a:solidFill>
                <a:latin typeface="Microsoft YaHei"/>
              </a:rPr>
              <a:t>    消除云端依赖, 降低延迟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577840"/>
            <a:ext cx="8531352" cy="640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D700"/>
                </a:solidFill>
                <a:latin typeface="Microsoft YaHei"/>
              </a:rPr>
              <a:t>  99 Tests Passed  |  6 Innovations  |  100% Offline SR  |  Ready for Real-Robot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D2FF"/>
                </a:solidFill>
                <a:latin typeface="Microsoft YaHei"/>
              </a:rPr>
              <a:t>10  技术栈全景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00D2FF"/>
                </a:solidFill>
                <a:latin typeface="Microsoft YaHei"/>
              </a:rPr>
              <a:t>  机器人端 (ROS2)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Fast-LIO2 SLAM (IMU+LiDAR)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Nav2 + DWB 局部规划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PCT Global Planner (GTSAM)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Terrain Analysis (地形感知)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gRPC Gateway (44 RPCs)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OTA Daemon (Ed25519签名)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188720"/>
            <a:ext cx="356616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FC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0FCB8A"/>
                </a:solidFill>
                <a:latin typeface="Microsoft YaHei"/>
              </a:rPr>
              <a:t>  AI 模块 (Python)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YOLO-World (开放词汇检测)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CLIP ViT-B/32 (视觉编码)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层次场景图 (instance_tracker)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快慢推理 (goal_resolver)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信念系统 (belief_system)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拓扑探索 (topology_graph)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188720"/>
            <a:ext cx="356616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D700"/>
                </a:solidFill>
                <a:latin typeface="Microsoft YaHei"/>
              </a:rPr>
              <a:t>  客户端 (Flutter)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MapPilot 多平台App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14 Providers 状态管理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5 Gateway 连接管理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实时地图可视化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任务下发 &amp; 监控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BLE 紧急通信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11274552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F9F43"/>
                </a:solidFill>
                <a:latin typeface="Microsoft YaHei"/>
              </a:rPr>
              <a:t>  LLM 后端支持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OpenAI GPT-4o / GPT-4o-mini  |  Anthropic Claude 3.5  |  Alibaba Qwen (通义千问)  |  Moonshot Kimi-k2.5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统一异步接口 (LLMClientBase)  |  自动重试 + 超时  |  可切换后端  |  温度/模型可配置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  已验证: Kimi-k2.5 全部12用例通过, 跨语言100%, 探索推理合理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760720"/>
            <a:ext cx="11274552" cy="548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BBBBCC"/>
                </a:solidFill>
                <a:latin typeface="Microsoft YaHei"/>
              </a:rPr>
              <a:t>  17 ROS2 Packages  |  44 gRPC RPCs  |  5 Proto Files  |  99 Unit Tests  |  Python + C++ + Dart + Protobuf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00D2FF"/>
                </a:solidFill>
                <a:latin typeface="Microsoft YaHei"/>
              </a:rPr>
              <a:t>Thank You!</a:t>
            </a:r>
          </a:p>
          <a:p>
            <a:pPr algn="ctr">
              <a:spcBef>
                <a:spcPts val="2000"/>
              </a:spcBef>
            </a:pPr>
            <a:r>
              <a:rPr sz="2400" b="0">
                <a:solidFill>
                  <a:srgbClr val="FFFFFF"/>
                </a:solidFill>
                <a:latin typeface="Microsoft YaHei"/>
              </a:rPr>
              <a:t>HSG-Nav: 基于层次场景图的四足机器人自主导航</a:t>
            </a:r>
          </a:p>
          <a:p>
            <a:pPr algn="ctr">
              <a:spcBef>
                <a:spcPts val="1600"/>
              </a:spcBef>
            </a:pPr>
            <a:r>
              <a:rPr sz="2000" b="0">
                <a:solidFill>
                  <a:srgbClr val="BBBBCC"/>
                </a:solidFill>
                <a:latin typeface="Microsoft YaHe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